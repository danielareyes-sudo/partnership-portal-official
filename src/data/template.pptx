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724" r:id="rId4"/>
    <p:sldMasterId id="214748372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Titillium Web SemiBold"/>
      <p:regular r:id="rId32"/>
      <p:bold r:id="rId33"/>
      <p:italic r:id="rId34"/>
      <p:boldItalic r:id="rId35"/>
    </p:embeddedFont>
    <p:embeddedFont>
      <p:font typeface="Titillium Web"/>
      <p:regular r:id="rId36"/>
      <p:bold r:id="rId37"/>
      <p:italic r:id="rId38"/>
      <p:boldItalic r:id="rId39"/>
    </p:embeddedFont>
    <p:embeddedFont>
      <p:font typeface="Titillium Web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EE9726-6C4F-4318-AD9E-1C56E25DB3F7}">
  <a:tblStyle styleId="{00EE9726-6C4F-4318-AD9E-1C56E25DB3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BADAD55-CA40-4C92-8C74-7A9426FE90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A3CF01A-FF00-4621-9592-C8D5DCCB9317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itilliumWebLight-regular.fntdata"/><Relationship Id="rId20" Type="http://schemas.openxmlformats.org/officeDocument/2006/relationships/slide" Target="slides/slide14.xml"/><Relationship Id="rId42" Type="http://schemas.openxmlformats.org/officeDocument/2006/relationships/font" Target="fonts/TitilliumWebLight-italic.fntdata"/><Relationship Id="rId41" Type="http://schemas.openxmlformats.org/officeDocument/2006/relationships/font" Target="fonts/TitilliumWebLigh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TitilliumWebLigh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TitilliumWebSemiBold-bold.fntdata"/><Relationship Id="rId10" Type="http://schemas.openxmlformats.org/officeDocument/2006/relationships/slide" Target="slides/slide4.xml"/><Relationship Id="rId32" Type="http://schemas.openxmlformats.org/officeDocument/2006/relationships/font" Target="fonts/TitilliumWeb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TitilliumWeb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TitilliumWebSemiBold-italic.fntdata"/><Relationship Id="rId15" Type="http://schemas.openxmlformats.org/officeDocument/2006/relationships/slide" Target="slides/slide9.xml"/><Relationship Id="rId37" Type="http://schemas.openxmlformats.org/officeDocument/2006/relationships/font" Target="fonts/TitilliumWeb-bold.fntdata"/><Relationship Id="rId14" Type="http://schemas.openxmlformats.org/officeDocument/2006/relationships/slide" Target="slides/slide8.xml"/><Relationship Id="rId36" Type="http://schemas.openxmlformats.org/officeDocument/2006/relationships/font" Target="fonts/TitilliumWeb-regular.fntdata"/><Relationship Id="rId17" Type="http://schemas.openxmlformats.org/officeDocument/2006/relationships/slide" Target="slides/slide11.xml"/><Relationship Id="rId39" Type="http://schemas.openxmlformats.org/officeDocument/2006/relationships/font" Target="fonts/TitilliumWeb-boldItalic.fntdata"/><Relationship Id="rId16" Type="http://schemas.openxmlformats.org/officeDocument/2006/relationships/slide" Target="slides/slide10.xml"/><Relationship Id="rId38" Type="http://schemas.openxmlformats.org/officeDocument/2006/relationships/font" Target="fonts/TitilliumWeb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>
        <p15:guide id="1" orient="horz" pos="2880">
          <p15:clr>
            <a:srgbClr val="F26B43"/>
          </p15:clr>
        </p15:guide>
        <p15:guide id="2" pos="2160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be3c32852a_0_4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g3be3c32852a_0_4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be3c32852a_0_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be3c32852a_0_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d0f42fea8e_1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3d0f42fea8e_1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be3c32852a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be3c32852a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be3c32852a_0_4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be3c32852a_0_4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be3c32852a_0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be3c32852a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d0cdc2a01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g3d0cdc2a01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d1121f9ee7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d1121f9ee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be3c32852a_0_5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be3c32852a_0_5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be3c32852a_0_6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be3c32852a_0_6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d0e110e56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d0e110e56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d0e110e56b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g3d0e110e56b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d0e110e56b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2" name="Google Shape;1012;g3d0e110e56b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d0e110e56b_1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g3d0e110e56b_1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be3c32852a_0_6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g3be3c32852a_0_6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d0f42fea8e_1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g3d0f42fea8e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be3c32852a_0_6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g3be3c32852a_0_6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3d0f42fea8e_18_3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g3d0f42fea8e_18_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be3c32852a_0_7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g3be3c32852a_0_7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3.png"/><Relationship Id="rId3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jpg"/><Relationship Id="rId3" Type="http://schemas.openxmlformats.org/officeDocument/2006/relationships/image" Target="../media/image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6.png"/><Relationship Id="rId3" Type="http://schemas.openxmlformats.org/officeDocument/2006/relationships/image" Target="../media/image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3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3.png"/><Relationship Id="rId3" Type="http://schemas.openxmlformats.org/officeDocument/2006/relationships/image" Target="../media/image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7.jpg"/><Relationship Id="rId3" Type="http://schemas.openxmlformats.org/officeDocument/2006/relationships/image" Target="../media/image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6.png"/><Relationship Id="rId3" Type="http://schemas.openxmlformats.org/officeDocument/2006/relationships/image" Target="../media/image4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3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3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 showMasterSp="0">
  <p:cSld name="Title_4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title"/>
          </p:nvPr>
        </p:nvSpPr>
        <p:spPr>
          <a:xfrm>
            <a:off x="490538" y="4999434"/>
            <a:ext cx="48272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515937" y="6506408"/>
            <a:ext cx="75517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1" cy="279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 showMasterSp="0">
  <p:cSld name="Title_5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5938" y="409178"/>
            <a:ext cx="1018861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490538" y="4999434"/>
            <a:ext cx="48272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515937" y="6506408"/>
            <a:ext cx="75517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chemeClr val="accen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 showMasterSp="0">
  <p:cSld name="Title_6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33649" t="33649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l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1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type="title"/>
          </p:nvPr>
        </p:nvSpPr>
        <p:spPr>
          <a:xfrm>
            <a:off x="490538" y="4999434"/>
            <a:ext cx="48272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515937" y="6506408"/>
            <a:ext cx="75517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chemeClr val="accen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1" showMasterSp="0">
  <p:cSld name="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5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5"/>
          <p:cNvSpPr/>
          <p:nvPr/>
        </p:nvSpPr>
        <p:spPr>
          <a:xfrm>
            <a:off x="459000" y="6049865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757879" y="5893644"/>
            <a:ext cx="42903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tillium Web SemiBold"/>
              <a:buNone/>
              <a:defRPr b="0" sz="3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0"/>
            <a:ext cx="6858000" cy="33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2" showMasterSp="0">
  <p:cSld name="Content_1"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757879" y="5893644"/>
            <a:ext cx="4290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tillium Web SemiBold"/>
              <a:buNone/>
              <a:defRPr b="0" sz="32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6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67000" y="0"/>
            <a:ext cx="6858000" cy="332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459000" y="6049865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_1" showMasterSp="0">
  <p:cSld name="Agenda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0139" y="0"/>
            <a:ext cx="3328416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7"/>
          <p:cNvCxnSpPr/>
          <p:nvPr/>
        </p:nvCxnSpPr>
        <p:spPr>
          <a:xfrm rot="10800000">
            <a:off x="3774814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7"/>
          <p:cNvSpPr/>
          <p:nvPr/>
        </p:nvSpPr>
        <p:spPr>
          <a:xfrm>
            <a:off x="3765814" y="1340705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757879" y="1184484"/>
            <a:ext cx="2321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tillium Web SemiBold"/>
              <a:buNone/>
              <a:defRPr b="0" sz="3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_2" showMasterSp="0">
  <p:cSld name="Agenda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757879" y="1184484"/>
            <a:ext cx="2322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tillium Web SemiBold"/>
              <a:buNone/>
              <a:defRPr b="0" sz="32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53" name="Google Shape;5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8"/>
          <p:cNvCxnSpPr/>
          <p:nvPr/>
        </p:nvCxnSpPr>
        <p:spPr>
          <a:xfrm rot="10800000">
            <a:off x="3769794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8"/>
          <p:cNvSpPr/>
          <p:nvPr/>
        </p:nvSpPr>
        <p:spPr>
          <a:xfrm>
            <a:off x="3760794" y="1334230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56" y="0"/>
            <a:ext cx="332841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2" showMasterSp="0">
  <p:cSld name="Section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9"/>
          <p:cNvCxnSpPr/>
          <p:nvPr/>
        </p:nvCxnSpPr>
        <p:spPr>
          <a:xfrm>
            <a:off x="0" y="402390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9"/>
          <p:cNvSpPr/>
          <p:nvPr/>
        </p:nvSpPr>
        <p:spPr>
          <a:xfrm rot="5400000">
            <a:off x="834553" y="3933908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/>
          <p:nvPr>
            <p:ph type="title"/>
          </p:nvPr>
        </p:nvSpPr>
        <p:spPr>
          <a:xfrm>
            <a:off x="757879" y="4629223"/>
            <a:ext cx="10676242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subTitle"/>
          </p:nvPr>
        </p:nvSpPr>
        <p:spPr>
          <a:xfrm>
            <a:off x="791332" y="5414462"/>
            <a:ext cx="106762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  <a:defRPr sz="1200">
                <a:solidFill>
                  <a:schemeClr val="accen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5061" y="702365"/>
            <a:ext cx="6858000" cy="3329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" showMasterSp="0">
  <p:cSld name="Tex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0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757878" y="586626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_black" showMasterSp="0">
  <p:cSld name="Text_1_1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73" name="Google Shape;73;p11"/>
          <p:cNvSpPr txBox="1"/>
          <p:nvPr>
            <p:ph type="title"/>
          </p:nvPr>
        </p:nvSpPr>
        <p:spPr>
          <a:xfrm>
            <a:off x="757878" y="586626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pic>
        <p:nvPicPr>
          <p:cNvPr id="75" name="Google Shape;7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" name="Google Shape;76;p11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1"/>
          <p:cNvSpPr/>
          <p:nvPr/>
        </p:nvSpPr>
        <p:spPr>
          <a:xfrm>
            <a:off x="459000" y="736236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2" showMasterSp="0">
  <p:cSld name="Text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2017" y="0"/>
            <a:ext cx="5779008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2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1" name="Google Shape;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2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/>
          <p:nvPr/>
        </p:nvSpPr>
        <p:spPr>
          <a:xfrm>
            <a:off x="459000" y="20945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757878" y="1955526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3" showMasterSp="0">
  <p:cSld name="Text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3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/>
          <p:nvPr/>
        </p:nvSpPr>
        <p:spPr>
          <a:xfrm>
            <a:off x="459000" y="619159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>
            <a:off x="757878" y="6052525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3_black" showMasterSp="0">
  <p:cSld name="Text_3_1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757878" y="6052525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4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14"/>
          <p:cNvSpPr/>
          <p:nvPr/>
        </p:nvSpPr>
        <p:spPr>
          <a:xfrm>
            <a:off x="459000" y="6206473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4" showMasterSp="0">
  <p:cSld name="Text_4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5"/>
          <p:cNvCxnSpPr/>
          <p:nvPr/>
        </p:nvCxnSpPr>
        <p:spPr>
          <a:xfrm rot="10800000">
            <a:off x="6096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4" name="Google Shape;104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type="title"/>
          </p:nvPr>
        </p:nvSpPr>
        <p:spPr>
          <a:xfrm>
            <a:off x="7242408" y="3182779"/>
            <a:ext cx="375354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3432345" cy="3328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5" showMasterSp="0">
  <p:cSld name="Text_5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16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/>
          <p:nvPr/>
        </p:nvSpPr>
        <p:spPr>
          <a:xfrm>
            <a:off x="459000" y="1183957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757878" y="1044890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5_black" showMasterSp="0">
  <p:cSld name="Text_5_1"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>
            <a:off x="757878" y="1044890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0" name="Google Shape;12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17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7"/>
          <p:cNvSpPr/>
          <p:nvPr/>
        </p:nvSpPr>
        <p:spPr>
          <a:xfrm>
            <a:off x="459000" y="1183953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6" showMasterSp="0">
  <p:cSld name="Text_6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18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5" name="Google Shape;12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459000" y="3180036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757878" y="3040969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1" showMasterSp="0">
  <p:cSld name="Quote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9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19"/>
          <p:cNvSpPr/>
          <p:nvPr/>
        </p:nvSpPr>
        <p:spPr>
          <a:xfrm rot="5400000">
            <a:off x="834553" y="56454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951775" y="1710176"/>
            <a:ext cx="345384" cy="466493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D6D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/>
          <p:nvPr/>
        </p:nvSpPr>
        <p:spPr>
          <a:xfrm rot="10800000">
            <a:off x="1247464" y="1710176"/>
            <a:ext cx="345384" cy="466493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D6D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1397932" y="1647520"/>
            <a:ext cx="9396136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40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2" type="body"/>
          </p:nvPr>
        </p:nvSpPr>
        <p:spPr>
          <a:xfrm>
            <a:off x="3950819" y="129667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9"/>
          <p:cNvSpPr txBox="1"/>
          <p:nvPr>
            <p:ph idx="3" type="body"/>
          </p:nvPr>
        </p:nvSpPr>
        <p:spPr>
          <a:xfrm>
            <a:off x="6096000" y="5822031"/>
            <a:ext cx="448503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1_black" showMasterSp="0">
  <p:cSld name="Quote_1_1"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/>
          <p:nvPr/>
        </p:nvSpPr>
        <p:spPr>
          <a:xfrm>
            <a:off x="951775" y="1710176"/>
            <a:ext cx="344391" cy="465151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282A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 rot="10800000">
            <a:off x="1248457" y="1711518"/>
            <a:ext cx="344391" cy="465151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282A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1397932" y="1647520"/>
            <a:ext cx="93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2800"/>
              <a:buFont typeface="Titillium Web SemiBold"/>
              <a:buNone/>
              <a:defRPr b="0" i="0" sz="4000" u="none" cap="none" strike="noStrike">
                <a:solidFill>
                  <a:srgbClr val="8993E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2" type="body"/>
          </p:nvPr>
        </p:nvSpPr>
        <p:spPr>
          <a:xfrm>
            <a:off x="3950819" y="129667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3" type="body"/>
          </p:nvPr>
        </p:nvSpPr>
        <p:spPr>
          <a:xfrm>
            <a:off x="6096000" y="5822031"/>
            <a:ext cx="448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0"/>
          <p:cNvCxnSpPr/>
          <p:nvPr/>
        </p:nvCxnSpPr>
        <p:spPr>
          <a:xfrm>
            <a:off x="0" y="654538"/>
            <a:ext cx="12180300" cy="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20"/>
          <p:cNvSpPr/>
          <p:nvPr/>
        </p:nvSpPr>
        <p:spPr>
          <a:xfrm rot="5400000">
            <a:off x="834543" y="564538"/>
            <a:ext cx="18000" cy="180000"/>
          </a:xfrm>
          <a:prstGeom prst="roundRect">
            <a:avLst>
              <a:gd fmla="val 50000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2" showMasterSp="0">
  <p:cSld name="Quote_2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21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21"/>
          <p:cNvSpPr/>
          <p:nvPr/>
        </p:nvSpPr>
        <p:spPr>
          <a:xfrm rot="5400000">
            <a:off x="834553" y="56454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1397932" y="1929599"/>
            <a:ext cx="939613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6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idx="2" type="body"/>
          </p:nvPr>
        </p:nvSpPr>
        <p:spPr>
          <a:xfrm>
            <a:off x="5211418" y="5414043"/>
            <a:ext cx="448503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3" name="Google Shape;163;p21"/>
          <p:cNvGrpSpPr/>
          <p:nvPr/>
        </p:nvGrpSpPr>
        <p:grpSpPr>
          <a:xfrm>
            <a:off x="5281923" y="1015118"/>
            <a:ext cx="1628154" cy="473373"/>
            <a:chOff x="5247137" y="820802"/>
            <a:chExt cx="1628154" cy="473373"/>
          </a:xfrm>
        </p:grpSpPr>
        <p:sp>
          <p:nvSpPr>
            <p:cNvPr id="164" name="Google Shape;164;p21"/>
            <p:cNvSpPr/>
            <p:nvPr/>
          </p:nvSpPr>
          <p:spPr>
            <a:xfrm>
              <a:off x="6234218" y="827682"/>
              <a:ext cx="345384" cy="466493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 rot="10800000">
              <a:off x="6529907" y="827682"/>
              <a:ext cx="345384" cy="466493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 rot="10800000">
              <a:off x="5247137" y="820802"/>
              <a:ext cx="345384" cy="466493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5612399" y="820802"/>
              <a:ext cx="345384" cy="466493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3950819" y="165227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1" showMasterSp="0">
  <p:cSld name="IMG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172" name="Google Shape;172;p22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22"/>
          <p:cNvSpPr/>
          <p:nvPr/>
        </p:nvSpPr>
        <p:spPr>
          <a:xfrm rot="5400000">
            <a:off x="6486053" y="56710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>
            <p:ph idx="1" type="body"/>
          </p:nvPr>
        </p:nvSpPr>
        <p:spPr>
          <a:xfrm>
            <a:off x="6405053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type="title"/>
          </p:nvPr>
        </p:nvSpPr>
        <p:spPr>
          <a:xfrm>
            <a:off x="6405044" y="828979"/>
            <a:ext cx="5203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2"/>
          <p:cNvSpPr/>
          <p:nvPr>
            <p:ph idx="2" type="pic"/>
          </p:nvPr>
        </p:nvSpPr>
        <p:spPr>
          <a:xfrm>
            <a:off x="0" y="0"/>
            <a:ext cx="2984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2"/>
          <p:cNvSpPr/>
          <p:nvPr>
            <p:ph idx="3" type="pic"/>
          </p:nvPr>
        </p:nvSpPr>
        <p:spPr>
          <a:xfrm>
            <a:off x="3008322" y="0"/>
            <a:ext cx="29844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8" showMasterSp="0">
  <p:cSld name="Text_8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2017" y="0"/>
            <a:ext cx="5779008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23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1" name="Google Shape;1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3"/>
          <p:cNvSpPr/>
          <p:nvPr/>
        </p:nvSpPr>
        <p:spPr>
          <a:xfrm>
            <a:off x="459000" y="1616061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 txBox="1"/>
          <p:nvPr>
            <p:ph type="title"/>
          </p:nvPr>
        </p:nvSpPr>
        <p:spPr>
          <a:xfrm>
            <a:off x="757878" y="1476994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757887" y="2046872"/>
            <a:ext cx="690338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2" showMasterSp="0">
  <p:cSld name="IMG_2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24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4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91" name="Google Shape;191;p24"/>
          <p:cNvSpPr txBox="1"/>
          <p:nvPr>
            <p:ph type="title"/>
          </p:nvPr>
        </p:nvSpPr>
        <p:spPr>
          <a:xfrm>
            <a:off x="757878" y="586626"/>
            <a:ext cx="429036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4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4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3" showMasterSp="0">
  <p:cSld name="IMG_3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197" name="Google Shape;197;p25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5"/>
          <p:cNvSpPr/>
          <p:nvPr/>
        </p:nvSpPr>
        <p:spPr>
          <a:xfrm rot="5400000">
            <a:off x="6486053" y="56710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6405053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5"/>
          <p:cNvSpPr txBox="1"/>
          <p:nvPr>
            <p:ph type="title"/>
          </p:nvPr>
        </p:nvSpPr>
        <p:spPr>
          <a:xfrm>
            <a:off x="6405044" y="828979"/>
            <a:ext cx="5203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5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3_black" showMasterSp="0">
  <p:cSld name="IMG_3_1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204" name="Google Shape;204;p26"/>
          <p:cNvSpPr txBox="1"/>
          <p:nvPr>
            <p:ph idx="1" type="body"/>
          </p:nvPr>
        </p:nvSpPr>
        <p:spPr>
          <a:xfrm>
            <a:off x="6405053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205" name="Google Shape;205;p26"/>
          <p:cNvSpPr txBox="1"/>
          <p:nvPr>
            <p:ph type="title"/>
          </p:nvPr>
        </p:nvSpPr>
        <p:spPr>
          <a:xfrm>
            <a:off x="6405044" y="828979"/>
            <a:ext cx="5203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6"/>
          <p:cNvCxnSpPr/>
          <p:nvPr/>
        </p:nvCxnSpPr>
        <p:spPr>
          <a:xfrm>
            <a:off x="0" y="654538"/>
            <a:ext cx="12180300" cy="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26"/>
          <p:cNvSpPr/>
          <p:nvPr/>
        </p:nvSpPr>
        <p:spPr>
          <a:xfrm rot="5400000">
            <a:off x="6481602" y="564538"/>
            <a:ext cx="18000" cy="180000"/>
          </a:xfrm>
          <a:prstGeom prst="roundRect">
            <a:avLst>
              <a:gd fmla="val 50000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4" showMasterSp="0">
  <p:cSld name="IMG_5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/>
          <p:nvPr>
            <p:ph idx="2" type="pic"/>
          </p:nvPr>
        </p:nvSpPr>
        <p:spPr>
          <a:xfrm>
            <a:off x="0" y="0"/>
            <a:ext cx="3029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27"/>
          <p:cNvSpPr txBox="1"/>
          <p:nvPr>
            <p:ph type="title"/>
          </p:nvPr>
        </p:nvSpPr>
        <p:spPr>
          <a:xfrm>
            <a:off x="3247078" y="586626"/>
            <a:ext cx="657002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32470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7"/>
          <p:cNvSpPr/>
          <p:nvPr/>
        </p:nvSpPr>
        <p:spPr>
          <a:xfrm>
            <a:off x="3029638" y="742847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4_black" showMasterSp="0">
  <p:cSld name="IMG_5_1"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220" name="Google Shape;220;p28"/>
          <p:cNvSpPr txBox="1"/>
          <p:nvPr>
            <p:ph type="title"/>
          </p:nvPr>
        </p:nvSpPr>
        <p:spPr>
          <a:xfrm>
            <a:off x="3247078" y="586626"/>
            <a:ext cx="6570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8"/>
          <p:cNvSpPr txBox="1"/>
          <p:nvPr>
            <p:ph idx="1" type="body"/>
          </p:nvPr>
        </p:nvSpPr>
        <p:spPr>
          <a:xfrm>
            <a:off x="32470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pic>
        <p:nvPicPr>
          <p:cNvPr id="222" name="Google Shape;222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/>
          <p:nvPr>
            <p:ph idx="2" type="pic"/>
          </p:nvPr>
        </p:nvSpPr>
        <p:spPr>
          <a:xfrm>
            <a:off x="0" y="0"/>
            <a:ext cx="3029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28"/>
          <p:cNvSpPr/>
          <p:nvPr/>
        </p:nvSpPr>
        <p:spPr>
          <a:xfrm>
            <a:off x="3029638" y="742847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5" showMasterSp="0">
  <p:cSld name="IMG_4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p29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29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229" name="Google Shape;229;p29"/>
          <p:cNvSpPr txBox="1"/>
          <p:nvPr>
            <p:ph type="title"/>
          </p:nvPr>
        </p:nvSpPr>
        <p:spPr>
          <a:xfrm>
            <a:off x="757878" y="586626"/>
            <a:ext cx="657002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9"/>
          <p:cNvSpPr/>
          <p:nvPr>
            <p:ph idx="2" type="pic"/>
          </p:nvPr>
        </p:nvSpPr>
        <p:spPr>
          <a:xfrm>
            <a:off x="8451325" y="0"/>
            <a:ext cx="37407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7" showMasterSp="0">
  <p:cSld name="Text_7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235" name="Google Shape;235;p30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30"/>
          <p:cNvSpPr/>
          <p:nvPr/>
        </p:nvSpPr>
        <p:spPr>
          <a:xfrm rot="5400000">
            <a:off x="6486053" y="56710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6405053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type="title"/>
          </p:nvPr>
        </p:nvSpPr>
        <p:spPr>
          <a:xfrm>
            <a:off x="6405044" y="828979"/>
            <a:ext cx="5203535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 showMasterSp="0">
  <p:cSld name="Title_1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blue circles&#10;&#10;AI-generated content may be incorrect." id="240" name="Google Shape;240;p31"/>
          <p:cNvPicPr preferRelativeResize="0"/>
          <p:nvPr/>
        </p:nvPicPr>
        <p:blipFill rotWithShape="1">
          <a:blip r:embed="rId2">
            <a:alphaModFix/>
          </a:blip>
          <a:srcRect b="2268" l="916" r="853" t="1798"/>
          <a:stretch/>
        </p:blipFill>
        <p:spPr>
          <a:xfrm>
            <a:off x="-144904" y="0"/>
            <a:ext cx="1248180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1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>
            <p:ph type="title"/>
          </p:nvPr>
        </p:nvSpPr>
        <p:spPr>
          <a:xfrm>
            <a:off x="490538" y="4999434"/>
            <a:ext cx="48272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1"/>
          <p:cNvSpPr txBox="1"/>
          <p:nvPr>
            <p:ph idx="1" type="subTitle"/>
          </p:nvPr>
        </p:nvSpPr>
        <p:spPr>
          <a:xfrm>
            <a:off x="515937" y="6506408"/>
            <a:ext cx="75517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 showMasterSp="0">
  <p:cSld name="Title_2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1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 txBox="1"/>
          <p:nvPr>
            <p:ph type="title"/>
          </p:nvPr>
        </p:nvSpPr>
        <p:spPr>
          <a:xfrm>
            <a:off x="490538" y="4999434"/>
            <a:ext cx="48272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2"/>
          <p:cNvSpPr txBox="1"/>
          <p:nvPr>
            <p:ph idx="1" type="subTitle"/>
          </p:nvPr>
        </p:nvSpPr>
        <p:spPr>
          <a:xfrm>
            <a:off x="515937" y="6506408"/>
            <a:ext cx="75517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 showMasterSp="0">
  <p:cSld name="Title_3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/>
          <p:nvPr/>
        </p:nvSpPr>
        <p:spPr>
          <a:xfrm>
            <a:off x="43543" y="0"/>
            <a:ext cx="12148457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33"/>
          <p:cNvPicPr preferRelativeResize="0"/>
          <p:nvPr/>
        </p:nvPicPr>
        <p:blipFill rotWithShape="1">
          <a:blip r:embed="rId2">
            <a:alphaModFix/>
          </a:blip>
          <a:srcRect b="14247" l="37488" r="568" t="42312"/>
          <a:stretch/>
        </p:blipFill>
        <p:spPr>
          <a:xfrm flipH="1" rot="10800000">
            <a:off x="0" y="0"/>
            <a:ext cx="9779002" cy="6858000"/>
          </a:xfrm>
          <a:custGeom>
            <a:rect b="b" l="l" r="r" t="t"/>
            <a:pathLst>
              <a:path extrusionOk="0" h="6858000" w="9779002">
                <a:moveTo>
                  <a:pt x="0" y="0"/>
                </a:moveTo>
                <a:lnTo>
                  <a:pt x="9692640" y="0"/>
                </a:lnTo>
                <a:lnTo>
                  <a:pt x="9738579" y="361524"/>
                </a:lnTo>
                <a:cubicBezTo>
                  <a:pt x="9765309" y="624731"/>
                  <a:pt x="9779002" y="891791"/>
                  <a:pt x="9779002" y="1162050"/>
                </a:cubicBezTo>
                <a:cubicBezTo>
                  <a:pt x="9779002" y="3324121"/>
                  <a:pt x="8902649" y="5281508"/>
                  <a:pt x="7485780" y="6698378"/>
                </a:cubicBezTo>
                <a:lnTo>
                  <a:pt x="731835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52" name="Google Shape;25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1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 txBox="1"/>
          <p:nvPr>
            <p:ph type="title"/>
          </p:nvPr>
        </p:nvSpPr>
        <p:spPr>
          <a:xfrm>
            <a:off x="490538" y="4999434"/>
            <a:ext cx="4827264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1" type="subTitle"/>
          </p:nvPr>
        </p:nvSpPr>
        <p:spPr>
          <a:xfrm>
            <a:off x="515937" y="6506408"/>
            <a:ext cx="7551737" cy="192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1" showMasterSp="0">
  <p:cSld name="Section_1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p34"/>
          <p:cNvCxnSpPr/>
          <p:nvPr/>
        </p:nvCxnSpPr>
        <p:spPr>
          <a:xfrm>
            <a:off x="0" y="402390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849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34"/>
          <p:cNvSpPr/>
          <p:nvPr/>
        </p:nvSpPr>
        <p:spPr>
          <a:xfrm rot="5400000">
            <a:off x="834553" y="3933908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4"/>
          <p:cNvSpPr txBox="1"/>
          <p:nvPr>
            <p:ph type="title"/>
          </p:nvPr>
        </p:nvSpPr>
        <p:spPr>
          <a:xfrm>
            <a:off x="757879" y="4629223"/>
            <a:ext cx="10676242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4"/>
          <p:cNvSpPr txBox="1"/>
          <p:nvPr>
            <p:ph idx="1" type="subTitle"/>
          </p:nvPr>
        </p:nvSpPr>
        <p:spPr>
          <a:xfrm>
            <a:off x="791332" y="5414462"/>
            <a:ext cx="106762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  <a:def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2" name="Google Shape;2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050" y="704491"/>
            <a:ext cx="6858000" cy="3328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3" showMasterSp="0">
  <p:cSld name="Section_3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/>
          <p:nvPr/>
        </p:nvSpPr>
        <p:spPr>
          <a:xfrm>
            <a:off x="0" y="0"/>
            <a:ext cx="12192001" cy="6857999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35"/>
          <p:cNvCxnSpPr/>
          <p:nvPr/>
        </p:nvCxnSpPr>
        <p:spPr>
          <a:xfrm>
            <a:off x="0" y="402390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1D2D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35"/>
          <p:cNvSpPr/>
          <p:nvPr/>
        </p:nvSpPr>
        <p:spPr>
          <a:xfrm rot="5400000">
            <a:off x="834553" y="3933908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 txBox="1"/>
          <p:nvPr>
            <p:ph type="title"/>
          </p:nvPr>
        </p:nvSpPr>
        <p:spPr>
          <a:xfrm>
            <a:off x="757879" y="4629223"/>
            <a:ext cx="10676242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5"/>
          <p:cNvSpPr txBox="1"/>
          <p:nvPr>
            <p:ph idx="1" type="subTitle"/>
          </p:nvPr>
        </p:nvSpPr>
        <p:spPr>
          <a:xfrm>
            <a:off x="791332" y="5414462"/>
            <a:ext cx="106762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  <a:def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0" name="Google Shape;2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045" y="702375"/>
            <a:ext cx="6858000" cy="332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_black" showMasterSp="0">
  <p:cSld name="Text_1_black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36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36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6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276" name="Google Shape;276;p36"/>
          <p:cNvSpPr txBox="1"/>
          <p:nvPr>
            <p:ph type="title"/>
          </p:nvPr>
        </p:nvSpPr>
        <p:spPr>
          <a:xfrm>
            <a:off x="757878" y="586626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6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8_black" showMasterSp="0">
  <p:cSld name="Text_8_black"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2017" y="0"/>
            <a:ext cx="5779983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0" name="Google Shape;280;p37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81" name="Google Shape;28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3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/>
          <p:nvPr/>
        </p:nvSpPr>
        <p:spPr>
          <a:xfrm>
            <a:off x="109343" y="6591134"/>
            <a:ext cx="250819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283" name="Google Shape;283;p37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7"/>
          <p:cNvSpPr/>
          <p:nvPr/>
        </p:nvSpPr>
        <p:spPr>
          <a:xfrm>
            <a:off x="459000" y="1616061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7"/>
          <p:cNvSpPr txBox="1"/>
          <p:nvPr>
            <p:ph type="title"/>
          </p:nvPr>
        </p:nvSpPr>
        <p:spPr>
          <a:xfrm>
            <a:off x="757878" y="1476994"/>
            <a:ext cx="109181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7"/>
          <p:cNvSpPr txBox="1"/>
          <p:nvPr>
            <p:ph idx="2" type="body"/>
          </p:nvPr>
        </p:nvSpPr>
        <p:spPr>
          <a:xfrm>
            <a:off x="757887" y="2046872"/>
            <a:ext cx="690338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1" showMasterSp="0">
  <p:cSld name="Final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38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38"/>
          <p:cNvSpPr/>
          <p:nvPr/>
        </p:nvSpPr>
        <p:spPr>
          <a:xfrm>
            <a:off x="459000" y="3403489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7740" y="3377335"/>
            <a:ext cx="1015262" cy="27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099" y="0"/>
            <a:ext cx="56398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 txBox="1"/>
          <p:nvPr>
            <p:ph type="title"/>
          </p:nvPr>
        </p:nvSpPr>
        <p:spPr>
          <a:xfrm>
            <a:off x="1118799" y="3270191"/>
            <a:ext cx="805532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8"/>
          <p:cNvSpPr txBox="1"/>
          <p:nvPr>
            <p:ph idx="1" type="body"/>
          </p:nvPr>
        </p:nvSpPr>
        <p:spPr>
          <a:xfrm>
            <a:off x="1150549" y="3893840"/>
            <a:ext cx="448503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2" showMasterSp="0">
  <p:cSld name="Final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39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39"/>
          <p:cNvSpPr/>
          <p:nvPr/>
        </p:nvSpPr>
        <p:spPr>
          <a:xfrm>
            <a:off x="459000" y="3403489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77" rotWithShape="0" algn="ctr" dir="10620000" dist="1899" sy="111977">
              <a:schemeClr val="accent1">
                <a:alpha val="51372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44470" y="3377335"/>
            <a:ext cx="1015262" cy="27815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9"/>
          <p:cNvSpPr/>
          <p:nvPr/>
        </p:nvSpPr>
        <p:spPr>
          <a:xfrm>
            <a:off x="10378996" y="3354561"/>
            <a:ext cx="21600" cy="3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099" y="0"/>
            <a:ext cx="56398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9"/>
          <p:cNvSpPr txBox="1"/>
          <p:nvPr>
            <p:ph type="title"/>
          </p:nvPr>
        </p:nvSpPr>
        <p:spPr>
          <a:xfrm>
            <a:off x="1118799" y="3270191"/>
            <a:ext cx="7256851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1150549" y="3893840"/>
            <a:ext cx="448503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4" showMasterSp="0">
  <p:cSld name="Title_4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1"/>
          <p:cNvSpPr txBox="1"/>
          <p:nvPr>
            <p:ph type="title"/>
          </p:nvPr>
        </p:nvSpPr>
        <p:spPr>
          <a:xfrm>
            <a:off x="490538" y="4999434"/>
            <a:ext cx="482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1"/>
          <p:cNvSpPr txBox="1"/>
          <p:nvPr>
            <p:ph idx="1" type="subTitle"/>
          </p:nvPr>
        </p:nvSpPr>
        <p:spPr>
          <a:xfrm>
            <a:off x="515937" y="6506408"/>
            <a:ext cx="75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2" name="Google Shape;31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3" cy="279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 showMasterSp="0">
  <p:cSld name="Title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5938" y="409178"/>
            <a:ext cx="1018863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2"/>
          <p:cNvSpPr txBox="1"/>
          <p:nvPr>
            <p:ph type="title"/>
          </p:nvPr>
        </p:nvSpPr>
        <p:spPr>
          <a:xfrm>
            <a:off x="490538" y="4999434"/>
            <a:ext cx="482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2"/>
          <p:cNvSpPr txBox="1"/>
          <p:nvPr>
            <p:ph idx="1" type="subTitle"/>
          </p:nvPr>
        </p:nvSpPr>
        <p:spPr>
          <a:xfrm>
            <a:off x="515937" y="6506408"/>
            <a:ext cx="75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chemeClr val="accen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7" name="Google Shape;31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6" showMasterSp="0">
  <p:cSld name="Title_6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3"/>
          <p:cNvPicPr preferRelativeResize="0"/>
          <p:nvPr/>
        </p:nvPicPr>
        <p:blipFill rotWithShape="1">
          <a:blip r:embed="rId2">
            <a:alphaModFix/>
          </a:blip>
          <a:srcRect b="0" l="0" r="33647" t="33647"/>
          <a:stretch/>
        </p:blipFill>
        <p:spPr>
          <a:xfrm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lt1">
              <a:alpha val="4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3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3"/>
          <p:cNvSpPr txBox="1"/>
          <p:nvPr>
            <p:ph type="title"/>
          </p:nvPr>
        </p:nvSpPr>
        <p:spPr>
          <a:xfrm>
            <a:off x="490538" y="4999434"/>
            <a:ext cx="482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3"/>
          <p:cNvSpPr txBox="1"/>
          <p:nvPr>
            <p:ph idx="1" type="subTitle"/>
          </p:nvPr>
        </p:nvSpPr>
        <p:spPr>
          <a:xfrm>
            <a:off x="515937" y="6506408"/>
            <a:ext cx="75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chemeClr val="accen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1" showMasterSp="0">
  <p:cSld name="Conten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44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44"/>
          <p:cNvSpPr/>
          <p:nvPr/>
        </p:nvSpPr>
        <p:spPr>
          <a:xfrm>
            <a:off x="459000" y="6049865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4"/>
          <p:cNvSpPr txBox="1"/>
          <p:nvPr>
            <p:ph type="title"/>
          </p:nvPr>
        </p:nvSpPr>
        <p:spPr>
          <a:xfrm>
            <a:off x="757879" y="5893644"/>
            <a:ext cx="4290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tillium Web SemiBold"/>
              <a:buNone/>
              <a:defRPr b="0" sz="3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44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330" name="Google Shape;33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0"/>
            <a:ext cx="6858000" cy="332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2" showMasterSp="0">
  <p:cSld name="Content_1"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/>
          <p:nvPr>
            <p:ph type="title"/>
          </p:nvPr>
        </p:nvSpPr>
        <p:spPr>
          <a:xfrm>
            <a:off x="757879" y="5893644"/>
            <a:ext cx="4290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tillium Web SemiBold"/>
              <a:buNone/>
              <a:defRPr b="0" sz="32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3" name="Google Shape;333;p45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45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335" name="Google Shape;335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67000" y="0"/>
            <a:ext cx="6858000" cy="3326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5"/>
          <p:cNvSpPr/>
          <p:nvPr/>
        </p:nvSpPr>
        <p:spPr>
          <a:xfrm>
            <a:off x="459000" y="6049865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_1" showMasterSp="0">
  <p:cSld name="Agenda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0139" y="0"/>
            <a:ext cx="3328416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46"/>
          <p:cNvCxnSpPr/>
          <p:nvPr/>
        </p:nvCxnSpPr>
        <p:spPr>
          <a:xfrm rot="10800000">
            <a:off x="3774814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46"/>
          <p:cNvSpPr/>
          <p:nvPr/>
        </p:nvSpPr>
        <p:spPr>
          <a:xfrm>
            <a:off x="3765814" y="1340705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46"/>
          <p:cNvSpPr txBox="1"/>
          <p:nvPr>
            <p:ph type="title"/>
          </p:nvPr>
        </p:nvSpPr>
        <p:spPr>
          <a:xfrm>
            <a:off x="757879" y="1184484"/>
            <a:ext cx="2322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tillium Web SemiBold"/>
              <a:buNone/>
              <a:defRPr b="0" sz="32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46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_2" showMasterSp="0">
  <p:cSld name="Agenda_1">
    <p:bg>
      <p:bgPr>
        <a:solidFill>
          <a:schemeClr val="dk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type="title"/>
          </p:nvPr>
        </p:nvSpPr>
        <p:spPr>
          <a:xfrm>
            <a:off x="757879" y="1184484"/>
            <a:ext cx="2322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itillium Web SemiBold"/>
              <a:buNone/>
              <a:defRPr b="0" sz="32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47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348" name="Google Shape;34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9" name="Google Shape;349;p47"/>
          <p:cNvCxnSpPr/>
          <p:nvPr/>
        </p:nvCxnSpPr>
        <p:spPr>
          <a:xfrm rot="10800000">
            <a:off x="3769794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47"/>
          <p:cNvSpPr/>
          <p:nvPr/>
        </p:nvSpPr>
        <p:spPr>
          <a:xfrm>
            <a:off x="3760794" y="1334230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256" y="0"/>
            <a:ext cx="332841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2" showMasterSp="0">
  <p:cSld name="Section_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3" name="Google Shape;353;p48"/>
          <p:cNvCxnSpPr/>
          <p:nvPr/>
        </p:nvCxnSpPr>
        <p:spPr>
          <a:xfrm>
            <a:off x="0" y="402390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48"/>
          <p:cNvSpPr/>
          <p:nvPr/>
        </p:nvSpPr>
        <p:spPr>
          <a:xfrm rot="5400000">
            <a:off x="834553" y="3933908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5" name="Google Shape;355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8"/>
          <p:cNvSpPr txBox="1"/>
          <p:nvPr>
            <p:ph type="title"/>
          </p:nvPr>
        </p:nvSpPr>
        <p:spPr>
          <a:xfrm>
            <a:off x="757879" y="4629223"/>
            <a:ext cx="1067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48"/>
          <p:cNvSpPr txBox="1"/>
          <p:nvPr>
            <p:ph idx="1" type="subTitle"/>
          </p:nvPr>
        </p:nvSpPr>
        <p:spPr>
          <a:xfrm>
            <a:off x="791332" y="5414462"/>
            <a:ext cx="1067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  <a:defRPr sz="1200">
                <a:solidFill>
                  <a:schemeClr val="accen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8" name="Google Shape;35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5061" y="702365"/>
            <a:ext cx="6858000" cy="3329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" showMasterSp="0">
  <p:cSld name="Text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49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49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9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757878" y="586626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49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_black" showMasterSp="0">
  <p:cSld name="Text_1_1">
    <p:bg>
      <p:bgPr>
        <a:solidFill>
          <a:schemeClr val="dk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0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68" name="Google Shape;368;p50"/>
          <p:cNvSpPr txBox="1"/>
          <p:nvPr>
            <p:ph type="title"/>
          </p:nvPr>
        </p:nvSpPr>
        <p:spPr>
          <a:xfrm>
            <a:off x="757878" y="586626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50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pic>
        <p:nvPicPr>
          <p:cNvPr id="370" name="Google Shape;37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50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50"/>
          <p:cNvSpPr/>
          <p:nvPr/>
        </p:nvSpPr>
        <p:spPr>
          <a:xfrm>
            <a:off x="459000" y="736236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2" showMasterSp="0">
  <p:cSld name="Text_2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2017" y="0"/>
            <a:ext cx="5779008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51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6" name="Google Shape;37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1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78" name="Google Shape;378;p51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1"/>
          <p:cNvSpPr/>
          <p:nvPr/>
        </p:nvSpPr>
        <p:spPr>
          <a:xfrm>
            <a:off x="459000" y="20945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1"/>
          <p:cNvSpPr txBox="1"/>
          <p:nvPr>
            <p:ph type="title"/>
          </p:nvPr>
        </p:nvSpPr>
        <p:spPr>
          <a:xfrm>
            <a:off x="757878" y="1955526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3" showMasterSp="0">
  <p:cSld name="Text_3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2" name="Google Shape;382;p52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3" name="Google Shape;38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2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85" name="Google Shape;385;p52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2"/>
          <p:cNvSpPr/>
          <p:nvPr/>
        </p:nvSpPr>
        <p:spPr>
          <a:xfrm>
            <a:off x="459000" y="619159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2"/>
          <p:cNvSpPr txBox="1"/>
          <p:nvPr>
            <p:ph type="title"/>
          </p:nvPr>
        </p:nvSpPr>
        <p:spPr>
          <a:xfrm>
            <a:off x="757878" y="6052525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3_black" showMasterSp="0">
  <p:cSld name="Text_3_1">
    <p:bg>
      <p:bgPr>
        <a:solidFill>
          <a:schemeClr val="dk1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3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91" name="Google Shape;391;p53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392" name="Google Shape;392;p53"/>
          <p:cNvSpPr txBox="1"/>
          <p:nvPr>
            <p:ph type="title"/>
          </p:nvPr>
        </p:nvSpPr>
        <p:spPr>
          <a:xfrm>
            <a:off x="757878" y="6052525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93" name="Google Shape;3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4" name="Google Shape;394;p53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p53"/>
          <p:cNvSpPr/>
          <p:nvPr/>
        </p:nvSpPr>
        <p:spPr>
          <a:xfrm>
            <a:off x="459000" y="6206473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4" showMasterSp="0">
  <p:cSld name="Text_4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" name="Google Shape;397;p54"/>
          <p:cNvCxnSpPr/>
          <p:nvPr/>
        </p:nvCxnSpPr>
        <p:spPr>
          <a:xfrm rot="10800000">
            <a:off x="6096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54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99" name="Google Shape;39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4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01" name="Google Shape;401;p54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54"/>
          <p:cNvSpPr txBox="1"/>
          <p:nvPr>
            <p:ph type="title"/>
          </p:nvPr>
        </p:nvSpPr>
        <p:spPr>
          <a:xfrm>
            <a:off x="7242408" y="3182779"/>
            <a:ext cx="37536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3" name="Google Shape;4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3432345" cy="3328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5" showMasterSp="0">
  <p:cSld name="Text_5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5" name="Google Shape;405;p55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06" name="Google Shape;406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5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08" name="Google Shape;408;p55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5"/>
          <p:cNvSpPr/>
          <p:nvPr/>
        </p:nvSpPr>
        <p:spPr>
          <a:xfrm>
            <a:off x="459000" y="1183957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5"/>
          <p:cNvSpPr txBox="1"/>
          <p:nvPr>
            <p:ph type="title"/>
          </p:nvPr>
        </p:nvSpPr>
        <p:spPr>
          <a:xfrm>
            <a:off x="757878" y="1044890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5_black" showMasterSp="0">
  <p:cSld name="Text_5_1">
    <p:bg>
      <p:bgPr>
        <a:solidFill>
          <a:schemeClr val="dk1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6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13" name="Google Shape;413;p56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414" name="Google Shape;414;p56"/>
          <p:cNvSpPr txBox="1"/>
          <p:nvPr>
            <p:ph type="title"/>
          </p:nvPr>
        </p:nvSpPr>
        <p:spPr>
          <a:xfrm>
            <a:off x="757878" y="1044890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15" name="Google Shape;415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6" name="Google Shape;416;p56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56"/>
          <p:cNvSpPr/>
          <p:nvPr/>
        </p:nvSpPr>
        <p:spPr>
          <a:xfrm>
            <a:off x="459000" y="1183953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6" showMasterSp="0">
  <p:cSld name="Text_6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" name="Google Shape;419;p57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20" name="Google Shape;420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7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22" name="Google Shape;422;p57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57"/>
          <p:cNvSpPr/>
          <p:nvPr/>
        </p:nvSpPr>
        <p:spPr>
          <a:xfrm>
            <a:off x="459000" y="3180036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757878" y="3040969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1" showMasterSp="0">
  <p:cSld name="Quote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7" name="Google Shape;427;p58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58"/>
          <p:cNvSpPr/>
          <p:nvPr/>
        </p:nvSpPr>
        <p:spPr>
          <a:xfrm rot="5400000">
            <a:off x="834553" y="56454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8"/>
          <p:cNvSpPr/>
          <p:nvPr/>
        </p:nvSpPr>
        <p:spPr>
          <a:xfrm>
            <a:off x="951775" y="1710176"/>
            <a:ext cx="344391" cy="465151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D6D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8"/>
          <p:cNvSpPr/>
          <p:nvPr/>
        </p:nvSpPr>
        <p:spPr>
          <a:xfrm rot="10800000">
            <a:off x="1248457" y="1711518"/>
            <a:ext cx="344391" cy="465151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D6DA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8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33" name="Google Shape;433;p58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58"/>
          <p:cNvSpPr txBox="1"/>
          <p:nvPr>
            <p:ph type="title"/>
          </p:nvPr>
        </p:nvSpPr>
        <p:spPr>
          <a:xfrm>
            <a:off x="1397932" y="1647520"/>
            <a:ext cx="93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40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58"/>
          <p:cNvSpPr txBox="1"/>
          <p:nvPr>
            <p:ph idx="2" type="body"/>
          </p:nvPr>
        </p:nvSpPr>
        <p:spPr>
          <a:xfrm>
            <a:off x="3950819" y="129667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3" type="body"/>
          </p:nvPr>
        </p:nvSpPr>
        <p:spPr>
          <a:xfrm>
            <a:off x="6096000" y="5822031"/>
            <a:ext cx="448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1_black" showMasterSp="0">
  <p:cSld name="Quote_1_1">
    <p:bg>
      <p:bgPr>
        <a:solidFill>
          <a:schemeClr val="dk1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59"/>
          <p:cNvSpPr/>
          <p:nvPr/>
        </p:nvSpPr>
        <p:spPr>
          <a:xfrm>
            <a:off x="951775" y="1710176"/>
            <a:ext cx="344391" cy="465151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282A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9"/>
          <p:cNvSpPr/>
          <p:nvPr/>
        </p:nvSpPr>
        <p:spPr>
          <a:xfrm rot="10800000">
            <a:off x="1248457" y="1711518"/>
            <a:ext cx="344391" cy="465151"/>
          </a:xfrm>
          <a:custGeom>
            <a:rect b="b" l="l" r="r" t="t"/>
            <a:pathLst>
              <a:path extrusionOk="0" h="2067339" w="1530627">
                <a:moveTo>
                  <a:pt x="168966" y="0"/>
                </a:moveTo>
                <a:lnTo>
                  <a:pt x="1530627" y="0"/>
                </a:lnTo>
                <a:lnTo>
                  <a:pt x="944218" y="2067339"/>
                </a:lnTo>
                <a:lnTo>
                  <a:pt x="0" y="2067339"/>
                </a:lnTo>
                <a:lnTo>
                  <a:pt x="168966" y="0"/>
                </a:lnTo>
                <a:close/>
              </a:path>
            </a:pathLst>
          </a:custGeom>
          <a:solidFill>
            <a:srgbClr val="282A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9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42" name="Google Shape;442;p59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443" name="Google Shape;443;p59"/>
          <p:cNvSpPr txBox="1"/>
          <p:nvPr>
            <p:ph type="title"/>
          </p:nvPr>
        </p:nvSpPr>
        <p:spPr>
          <a:xfrm>
            <a:off x="1397932" y="1647520"/>
            <a:ext cx="93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2800"/>
              <a:buFont typeface="Titillium Web SemiBold"/>
              <a:buNone/>
              <a:defRPr b="0" i="0" sz="4000" u="none" cap="none" strike="noStrike">
                <a:solidFill>
                  <a:srgbClr val="8993E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444" name="Google Shape;444;p59"/>
          <p:cNvSpPr txBox="1"/>
          <p:nvPr>
            <p:ph idx="2" type="body"/>
          </p:nvPr>
        </p:nvSpPr>
        <p:spPr>
          <a:xfrm>
            <a:off x="3950819" y="129667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5" name="Google Shape;445;p59"/>
          <p:cNvSpPr txBox="1"/>
          <p:nvPr>
            <p:ph idx="3" type="body"/>
          </p:nvPr>
        </p:nvSpPr>
        <p:spPr>
          <a:xfrm>
            <a:off x="6096000" y="5822031"/>
            <a:ext cx="448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46" name="Google Shape;44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59"/>
          <p:cNvCxnSpPr/>
          <p:nvPr/>
        </p:nvCxnSpPr>
        <p:spPr>
          <a:xfrm>
            <a:off x="0" y="654538"/>
            <a:ext cx="12180300" cy="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59"/>
          <p:cNvSpPr/>
          <p:nvPr/>
        </p:nvSpPr>
        <p:spPr>
          <a:xfrm rot="5400000">
            <a:off x="834543" y="564538"/>
            <a:ext cx="18000" cy="180000"/>
          </a:xfrm>
          <a:prstGeom prst="roundRect">
            <a:avLst>
              <a:gd fmla="val 50000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_2" showMasterSp="0">
  <p:cSld name="Quote_2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-1"/>
            <a:ext cx="6096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1" name="Google Shape;451;p60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60"/>
          <p:cNvSpPr/>
          <p:nvPr/>
        </p:nvSpPr>
        <p:spPr>
          <a:xfrm rot="5400000">
            <a:off x="834553" y="56454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0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55" name="Google Shape;455;p60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60"/>
          <p:cNvSpPr txBox="1"/>
          <p:nvPr>
            <p:ph type="title"/>
          </p:nvPr>
        </p:nvSpPr>
        <p:spPr>
          <a:xfrm>
            <a:off x="1397932" y="1929599"/>
            <a:ext cx="939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6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60"/>
          <p:cNvSpPr txBox="1"/>
          <p:nvPr>
            <p:ph idx="2" type="body"/>
          </p:nvPr>
        </p:nvSpPr>
        <p:spPr>
          <a:xfrm>
            <a:off x="5211418" y="5414043"/>
            <a:ext cx="448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8" name="Google Shape;458;p60"/>
          <p:cNvGrpSpPr/>
          <p:nvPr/>
        </p:nvGrpSpPr>
        <p:grpSpPr>
          <a:xfrm>
            <a:off x="5282916" y="1015118"/>
            <a:ext cx="1627161" cy="473373"/>
            <a:chOff x="5248130" y="820802"/>
            <a:chExt cx="1627161" cy="473373"/>
          </a:xfrm>
        </p:grpSpPr>
        <p:sp>
          <p:nvSpPr>
            <p:cNvPr id="459" name="Google Shape;459;p60"/>
            <p:cNvSpPr/>
            <p:nvPr/>
          </p:nvSpPr>
          <p:spPr>
            <a:xfrm>
              <a:off x="6234218" y="827682"/>
              <a:ext cx="344391" cy="465151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60"/>
            <p:cNvSpPr/>
            <p:nvPr/>
          </p:nvSpPr>
          <p:spPr>
            <a:xfrm rot="10800000">
              <a:off x="6530900" y="829024"/>
              <a:ext cx="344391" cy="465151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60"/>
            <p:cNvSpPr/>
            <p:nvPr/>
          </p:nvSpPr>
          <p:spPr>
            <a:xfrm rot="10800000">
              <a:off x="5248130" y="822144"/>
              <a:ext cx="344391" cy="465151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60"/>
            <p:cNvSpPr/>
            <p:nvPr/>
          </p:nvSpPr>
          <p:spPr>
            <a:xfrm>
              <a:off x="5612399" y="820802"/>
              <a:ext cx="344391" cy="465151"/>
            </a:xfrm>
            <a:custGeom>
              <a:rect b="b" l="l" r="r" t="t"/>
              <a:pathLst>
                <a:path extrusionOk="0" h="2067339" w="1530627">
                  <a:moveTo>
                    <a:pt x="168966" y="0"/>
                  </a:moveTo>
                  <a:lnTo>
                    <a:pt x="1530627" y="0"/>
                  </a:lnTo>
                  <a:lnTo>
                    <a:pt x="944218" y="2067339"/>
                  </a:lnTo>
                  <a:lnTo>
                    <a:pt x="0" y="2067339"/>
                  </a:lnTo>
                  <a:lnTo>
                    <a:pt x="168966" y="0"/>
                  </a:lnTo>
                  <a:close/>
                </a:path>
              </a:pathLst>
            </a:custGeom>
            <a:solidFill>
              <a:srgbClr val="D6DA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" name="Google Shape;463;p60"/>
          <p:cNvSpPr txBox="1"/>
          <p:nvPr>
            <p:ph idx="3" type="body"/>
          </p:nvPr>
        </p:nvSpPr>
        <p:spPr>
          <a:xfrm>
            <a:off x="3950819" y="165227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1" showMasterSp="0">
  <p:cSld name="IMG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61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467" name="Google Shape;467;p61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61"/>
          <p:cNvSpPr/>
          <p:nvPr/>
        </p:nvSpPr>
        <p:spPr>
          <a:xfrm rot="5400000">
            <a:off x="6486053" y="56710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1"/>
          <p:cNvSpPr txBox="1"/>
          <p:nvPr>
            <p:ph idx="1" type="body"/>
          </p:nvPr>
        </p:nvSpPr>
        <p:spPr>
          <a:xfrm>
            <a:off x="6405053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61"/>
          <p:cNvSpPr txBox="1"/>
          <p:nvPr>
            <p:ph type="title"/>
          </p:nvPr>
        </p:nvSpPr>
        <p:spPr>
          <a:xfrm>
            <a:off x="6405044" y="828979"/>
            <a:ext cx="5203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61"/>
          <p:cNvSpPr/>
          <p:nvPr>
            <p:ph idx="2" type="pic"/>
          </p:nvPr>
        </p:nvSpPr>
        <p:spPr>
          <a:xfrm>
            <a:off x="0" y="0"/>
            <a:ext cx="29844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61"/>
          <p:cNvSpPr/>
          <p:nvPr>
            <p:ph idx="3" type="pic"/>
          </p:nvPr>
        </p:nvSpPr>
        <p:spPr>
          <a:xfrm>
            <a:off x="3008322" y="0"/>
            <a:ext cx="29844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8" showMasterSp="0">
  <p:cSld name="Text_8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2017" y="0"/>
            <a:ext cx="5779008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5" name="Google Shape;475;p62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6" name="Google Shape;47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2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78" name="Google Shape;478;p62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9" name="Google Shape;479;p62"/>
          <p:cNvSpPr/>
          <p:nvPr/>
        </p:nvSpPr>
        <p:spPr>
          <a:xfrm>
            <a:off x="459000" y="1616061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2"/>
          <p:cNvSpPr txBox="1"/>
          <p:nvPr>
            <p:ph type="title"/>
          </p:nvPr>
        </p:nvSpPr>
        <p:spPr>
          <a:xfrm>
            <a:off x="757878" y="1476994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62"/>
          <p:cNvSpPr txBox="1"/>
          <p:nvPr>
            <p:ph idx="2" type="body"/>
          </p:nvPr>
        </p:nvSpPr>
        <p:spPr>
          <a:xfrm>
            <a:off x="757887" y="2046872"/>
            <a:ext cx="690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2" showMasterSp="0">
  <p:cSld name="IMG_2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3" name="Google Shape;483;p63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63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63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86" name="Google Shape;486;p63"/>
          <p:cNvSpPr txBox="1"/>
          <p:nvPr>
            <p:ph type="title"/>
          </p:nvPr>
        </p:nvSpPr>
        <p:spPr>
          <a:xfrm>
            <a:off x="757878" y="586626"/>
            <a:ext cx="42903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63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63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3" showMasterSp="0">
  <p:cSld name="IMG_3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4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492" name="Google Shape;492;p64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p64"/>
          <p:cNvSpPr/>
          <p:nvPr/>
        </p:nvSpPr>
        <p:spPr>
          <a:xfrm rot="5400000">
            <a:off x="6486053" y="56710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64"/>
          <p:cNvSpPr txBox="1"/>
          <p:nvPr>
            <p:ph idx="1" type="body"/>
          </p:nvPr>
        </p:nvSpPr>
        <p:spPr>
          <a:xfrm>
            <a:off x="6405053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64"/>
          <p:cNvSpPr txBox="1"/>
          <p:nvPr>
            <p:ph type="title"/>
          </p:nvPr>
        </p:nvSpPr>
        <p:spPr>
          <a:xfrm>
            <a:off x="6405044" y="828979"/>
            <a:ext cx="5203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64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3_black" showMasterSp="0">
  <p:cSld name="IMG_3_1">
    <p:bg>
      <p:bgPr>
        <a:solidFill>
          <a:schemeClr val="dk1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5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499" name="Google Shape;499;p65"/>
          <p:cNvSpPr txBox="1"/>
          <p:nvPr>
            <p:ph idx="1" type="body"/>
          </p:nvPr>
        </p:nvSpPr>
        <p:spPr>
          <a:xfrm>
            <a:off x="6405053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sp>
        <p:nvSpPr>
          <p:cNvPr id="500" name="Google Shape;500;p65"/>
          <p:cNvSpPr txBox="1"/>
          <p:nvPr>
            <p:ph type="title"/>
          </p:nvPr>
        </p:nvSpPr>
        <p:spPr>
          <a:xfrm>
            <a:off x="6405044" y="828979"/>
            <a:ext cx="5203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01" name="Google Shape;501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65"/>
          <p:cNvCxnSpPr/>
          <p:nvPr/>
        </p:nvCxnSpPr>
        <p:spPr>
          <a:xfrm>
            <a:off x="0" y="654538"/>
            <a:ext cx="12180300" cy="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65"/>
          <p:cNvSpPr/>
          <p:nvPr/>
        </p:nvSpPr>
        <p:spPr>
          <a:xfrm rot="5400000">
            <a:off x="6481602" y="564538"/>
            <a:ext cx="18000" cy="180000"/>
          </a:xfrm>
          <a:prstGeom prst="roundRect">
            <a:avLst>
              <a:gd fmla="val 50000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65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4" showMasterSp="0">
  <p:cSld name="IMG_5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6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pic>
        <p:nvPicPr>
          <p:cNvPr id="507" name="Google Shape;507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8" name="Google Shape;508;p66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9" name="Google Shape;509;p66"/>
          <p:cNvSpPr/>
          <p:nvPr>
            <p:ph idx="2" type="pic"/>
          </p:nvPr>
        </p:nvSpPr>
        <p:spPr>
          <a:xfrm>
            <a:off x="0" y="0"/>
            <a:ext cx="3029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0" name="Google Shape;510;p66"/>
          <p:cNvSpPr txBox="1"/>
          <p:nvPr>
            <p:ph type="title"/>
          </p:nvPr>
        </p:nvSpPr>
        <p:spPr>
          <a:xfrm>
            <a:off x="3247078" y="586626"/>
            <a:ext cx="6570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66"/>
          <p:cNvSpPr txBox="1"/>
          <p:nvPr>
            <p:ph idx="1" type="body"/>
          </p:nvPr>
        </p:nvSpPr>
        <p:spPr>
          <a:xfrm>
            <a:off x="32470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66"/>
          <p:cNvSpPr/>
          <p:nvPr/>
        </p:nvSpPr>
        <p:spPr>
          <a:xfrm>
            <a:off x="3029638" y="742847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4_black" showMasterSp="0">
  <p:cSld name="IMG_5_1">
    <p:bg>
      <p:bgPr>
        <a:solidFill>
          <a:schemeClr val="dk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7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515" name="Google Shape;515;p67"/>
          <p:cNvSpPr txBox="1"/>
          <p:nvPr>
            <p:ph type="title"/>
          </p:nvPr>
        </p:nvSpPr>
        <p:spPr>
          <a:xfrm>
            <a:off x="3247078" y="586626"/>
            <a:ext cx="6570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67"/>
          <p:cNvSpPr txBox="1"/>
          <p:nvPr>
            <p:ph idx="1" type="body"/>
          </p:nvPr>
        </p:nvSpPr>
        <p:spPr>
          <a:xfrm>
            <a:off x="32470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93EC"/>
              </a:buClr>
              <a:buSzPts val="1400"/>
              <a:buNone/>
              <a:defRPr>
                <a:solidFill>
                  <a:srgbClr val="8993EC"/>
                </a:solidFill>
              </a:defRPr>
            </a:lvl9pPr>
          </a:lstStyle>
          <a:p/>
        </p:txBody>
      </p:sp>
      <p:pic>
        <p:nvPicPr>
          <p:cNvPr id="517" name="Google Shape;517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67"/>
          <p:cNvSpPr/>
          <p:nvPr>
            <p:ph idx="2" type="pic"/>
          </p:nvPr>
        </p:nvSpPr>
        <p:spPr>
          <a:xfrm>
            <a:off x="0" y="0"/>
            <a:ext cx="30297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9" name="Google Shape;519;p67"/>
          <p:cNvSpPr/>
          <p:nvPr/>
        </p:nvSpPr>
        <p:spPr>
          <a:xfrm>
            <a:off x="3029638" y="742847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G_5" showMasterSp="0">
  <p:cSld name="IMG_4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1" name="Google Shape;521;p68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2" name="Google Shape;522;p68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524" name="Google Shape;524;p68"/>
          <p:cNvSpPr txBox="1"/>
          <p:nvPr>
            <p:ph type="title"/>
          </p:nvPr>
        </p:nvSpPr>
        <p:spPr>
          <a:xfrm>
            <a:off x="757878" y="586626"/>
            <a:ext cx="6570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68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68"/>
          <p:cNvSpPr/>
          <p:nvPr>
            <p:ph idx="2" type="pic"/>
          </p:nvPr>
        </p:nvSpPr>
        <p:spPr>
          <a:xfrm>
            <a:off x="8451325" y="0"/>
            <a:ext cx="37407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7" showMasterSp="0">
  <p:cSld name="Text_7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69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cxnSp>
        <p:nvCxnSpPr>
          <p:cNvPr id="530" name="Google Shape;530;p69"/>
          <p:cNvCxnSpPr/>
          <p:nvPr/>
        </p:nvCxnSpPr>
        <p:spPr>
          <a:xfrm>
            <a:off x="0" y="65425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69"/>
          <p:cNvSpPr/>
          <p:nvPr/>
        </p:nvSpPr>
        <p:spPr>
          <a:xfrm rot="5400000">
            <a:off x="6486053" y="567102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9"/>
          <p:cNvSpPr txBox="1"/>
          <p:nvPr>
            <p:ph idx="1" type="body"/>
          </p:nvPr>
        </p:nvSpPr>
        <p:spPr>
          <a:xfrm>
            <a:off x="6405053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69"/>
          <p:cNvSpPr txBox="1"/>
          <p:nvPr>
            <p:ph type="title"/>
          </p:nvPr>
        </p:nvSpPr>
        <p:spPr>
          <a:xfrm>
            <a:off x="6405044" y="828979"/>
            <a:ext cx="5203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accen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 showMasterSp="0">
  <p:cSld name="Title_1">
    <p:bg>
      <p:bgPr>
        <a:solidFill>
          <a:schemeClr val="dk1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blue circles&#10;&#10;AI-generated content may be incorrect." id="535" name="Google Shape;535;p70"/>
          <p:cNvPicPr preferRelativeResize="0"/>
          <p:nvPr/>
        </p:nvPicPr>
        <p:blipFill rotWithShape="1">
          <a:blip r:embed="rId2">
            <a:alphaModFix/>
          </a:blip>
          <a:srcRect b="2274" l="914" r="855" t="1794"/>
          <a:stretch/>
        </p:blipFill>
        <p:spPr>
          <a:xfrm>
            <a:off x="-144904" y="0"/>
            <a:ext cx="1248180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3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0"/>
          <p:cNvSpPr txBox="1"/>
          <p:nvPr>
            <p:ph type="title"/>
          </p:nvPr>
        </p:nvSpPr>
        <p:spPr>
          <a:xfrm>
            <a:off x="490538" y="4999434"/>
            <a:ext cx="482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70"/>
          <p:cNvSpPr txBox="1"/>
          <p:nvPr>
            <p:ph idx="1" type="subTitle"/>
          </p:nvPr>
        </p:nvSpPr>
        <p:spPr>
          <a:xfrm>
            <a:off x="515937" y="6506408"/>
            <a:ext cx="75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 showMasterSp="0">
  <p:cSld name="Title_2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3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1"/>
          <p:cNvSpPr txBox="1"/>
          <p:nvPr>
            <p:ph type="title"/>
          </p:nvPr>
        </p:nvSpPr>
        <p:spPr>
          <a:xfrm>
            <a:off x="490538" y="4999434"/>
            <a:ext cx="482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71"/>
          <p:cNvSpPr txBox="1"/>
          <p:nvPr>
            <p:ph idx="1" type="subTitle"/>
          </p:nvPr>
        </p:nvSpPr>
        <p:spPr>
          <a:xfrm>
            <a:off x="515937" y="6506408"/>
            <a:ext cx="75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 showMasterSp="0">
  <p:cSld name="Title_3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2"/>
          <p:cNvSpPr/>
          <p:nvPr/>
        </p:nvSpPr>
        <p:spPr>
          <a:xfrm>
            <a:off x="43543" y="0"/>
            <a:ext cx="121485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p72"/>
          <p:cNvPicPr preferRelativeResize="0"/>
          <p:nvPr/>
        </p:nvPicPr>
        <p:blipFill rotWithShape="1">
          <a:blip r:embed="rId2">
            <a:alphaModFix/>
          </a:blip>
          <a:srcRect b="14248" l="37488" r="570" t="42311"/>
          <a:stretch/>
        </p:blipFill>
        <p:spPr>
          <a:xfrm flipH="1" rot="10800000">
            <a:off x="0" y="0"/>
            <a:ext cx="9779002" cy="6858000"/>
          </a:xfrm>
          <a:custGeom>
            <a:rect b="b" l="l" r="r" t="t"/>
            <a:pathLst>
              <a:path extrusionOk="0" h="6858000" w="9779002">
                <a:moveTo>
                  <a:pt x="0" y="0"/>
                </a:moveTo>
                <a:lnTo>
                  <a:pt x="9692640" y="0"/>
                </a:lnTo>
                <a:lnTo>
                  <a:pt x="9738579" y="361524"/>
                </a:lnTo>
                <a:cubicBezTo>
                  <a:pt x="9765309" y="624731"/>
                  <a:pt x="9779002" y="891791"/>
                  <a:pt x="9779002" y="1162050"/>
                </a:cubicBezTo>
                <a:cubicBezTo>
                  <a:pt x="9779002" y="3324121"/>
                  <a:pt x="8902649" y="5281508"/>
                  <a:pt x="7485780" y="6698378"/>
                </a:cubicBezTo>
                <a:lnTo>
                  <a:pt x="731835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547" name="Google Shape;54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938" y="409178"/>
            <a:ext cx="1018863" cy="27914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72"/>
          <p:cNvSpPr txBox="1"/>
          <p:nvPr>
            <p:ph type="title"/>
          </p:nvPr>
        </p:nvSpPr>
        <p:spPr>
          <a:xfrm>
            <a:off x="490538" y="4999434"/>
            <a:ext cx="4827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72"/>
          <p:cNvSpPr txBox="1"/>
          <p:nvPr>
            <p:ph idx="1" type="subTitle"/>
          </p:nvPr>
        </p:nvSpPr>
        <p:spPr>
          <a:xfrm>
            <a:off x="515937" y="6506408"/>
            <a:ext cx="7551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2000"/>
              <a:buNone/>
              <a:defRPr b="0" sz="1000" cap="none">
                <a:solidFill>
                  <a:srgbClr val="E8EAF6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1" showMasterSp="0">
  <p:cSld name="Section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dk1"/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73"/>
          <p:cNvCxnSpPr/>
          <p:nvPr/>
        </p:nvCxnSpPr>
        <p:spPr>
          <a:xfrm>
            <a:off x="0" y="402390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849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3" name="Google Shape;553;p73"/>
          <p:cNvSpPr/>
          <p:nvPr/>
        </p:nvSpPr>
        <p:spPr>
          <a:xfrm rot="5400000">
            <a:off x="834553" y="3933908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4" name="Google Shape;554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73"/>
          <p:cNvSpPr txBox="1"/>
          <p:nvPr>
            <p:ph type="title"/>
          </p:nvPr>
        </p:nvSpPr>
        <p:spPr>
          <a:xfrm>
            <a:off x="757879" y="4629223"/>
            <a:ext cx="1067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rgbClr val="E8EAF6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73"/>
          <p:cNvSpPr txBox="1"/>
          <p:nvPr>
            <p:ph idx="1" type="subTitle"/>
          </p:nvPr>
        </p:nvSpPr>
        <p:spPr>
          <a:xfrm>
            <a:off x="791332" y="5414462"/>
            <a:ext cx="1067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  <a:def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57" name="Google Shape;55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050" y="704491"/>
            <a:ext cx="6858000" cy="3328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3" showMasterSp="0">
  <p:cSld name="Section_3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74"/>
          <p:cNvCxnSpPr/>
          <p:nvPr/>
        </p:nvCxnSpPr>
        <p:spPr>
          <a:xfrm>
            <a:off x="0" y="4023908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1D2D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74"/>
          <p:cNvSpPr/>
          <p:nvPr/>
        </p:nvSpPr>
        <p:spPr>
          <a:xfrm rot="5400000">
            <a:off x="834553" y="3933908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74"/>
          <p:cNvSpPr txBox="1"/>
          <p:nvPr>
            <p:ph type="title"/>
          </p:nvPr>
        </p:nvSpPr>
        <p:spPr>
          <a:xfrm>
            <a:off x="757879" y="4629223"/>
            <a:ext cx="1067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  <a:defRPr b="0" sz="40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74"/>
          <p:cNvSpPr txBox="1"/>
          <p:nvPr>
            <p:ph idx="1" type="subTitle"/>
          </p:nvPr>
        </p:nvSpPr>
        <p:spPr>
          <a:xfrm>
            <a:off x="791332" y="5414462"/>
            <a:ext cx="1067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  <a:defRPr sz="1200">
                <a:solidFill>
                  <a:schemeClr val="lt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65" name="Google Shape;56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045" y="702375"/>
            <a:ext cx="6858000" cy="3328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1_black" showMasterSp="0">
  <p:cSld name="Text_1_black">
    <p:bg>
      <p:bgPr>
        <a:solidFill>
          <a:schemeClr val="dk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7" name="Google Shape;567;p75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p75"/>
          <p:cNvSpPr/>
          <p:nvPr/>
        </p:nvSpPr>
        <p:spPr>
          <a:xfrm>
            <a:off x="459000" y="725693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75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571" name="Google Shape;571;p75"/>
          <p:cNvSpPr txBox="1"/>
          <p:nvPr>
            <p:ph type="title"/>
          </p:nvPr>
        </p:nvSpPr>
        <p:spPr>
          <a:xfrm>
            <a:off x="757878" y="586626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75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_8_black" showMasterSp="0">
  <p:cSld name="Text_8_black">
    <p:bg>
      <p:bgPr>
        <a:solidFill>
          <a:schemeClr val="dk1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12017" y="0"/>
            <a:ext cx="57799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5" name="Google Shape;575;p76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6" name="Google Shape;57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7926" y="305856"/>
            <a:ext cx="590450" cy="161768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6"/>
          <p:cNvSpPr/>
          <p:nvPr/>
        </p:nvSpPr>
        <p:spPr>
          <a:xfrm>
            <a:off x="109343" y="6591134"/>
            <a:ext cx="250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accent6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0" i="0" sz="900" u="none" cap="none" strike="noStrike">
              <a:solidFill>
                <a:schemeClr val="accent6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578" name="Google Shape;578;p76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76"/>
          <p:cNvSpPr/>
          <p:nvPr/>
        </p:nvSpPr>
        <p:spPr>
          <a:xfrm>
            <a:off x="459000" y="1616061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6"/>
          <p:cNvSpPr txBox="1"/>
          <p:nvPr>
            <p:ph type="title"/>
          </p:nvPr>
        </p:nvSpPr>
        <p:spPr>
          <a:xfrm>
            <a:off x="757878" y="1476994"/>
            <a:ext cx="10918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1" name="Google Shape;581;p76"/>
          <p:cNvSpPr txBox="1"/>
          <p:nvPr>
            <p:ph idx="2" type="body"/>
          </p:nvPr>
        </p:nvSpPr>
        <p:spPr>
          <a:xfrm>
            <a:off x="757887" y="2046872"/>
            <a:ext cx="690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93E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1" showMasterSp="0">
  <p:cSld name="Final_1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77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77"/>
          <p:cNvSpPr/>
          <p:nvPr/>
        </p:nvSpPr>
        <p:spPr>
          <a:xfrm>
            <a:off x="459000" y="3403489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77740" y="3377335"/>
            <a:ext cx="1015263" cy="27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099" y="0"/>
            <a:ext cx="56398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77"/>
          <p:cNvSpPr txBox="1"/>
          <p:nvPr>
            <p:ph type="title"/>
          </p:nvPr>
        </p:nvSpPr>
        <p:spPr>
          <a:xfrm>
            <a:off x="1118799" y="3270191"/>
            <a:ext cx="80553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77"/>
          <p:cNvSpPr txBox="1"/>
          <p:nvPr>
            <p:ph idx="1" type="body"/>
          </p:nvPr>
        </p:nvSpPr>
        <p:spPr>
          <a:xfrm>
            <a:off x="1150549" y="3893840"/>
            <a:ext cx="448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_2" showMasterSp="0">
  <p:cSld name="Final_2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2" name="Google Shape;592;p78"/>
          <p:cNvCxnSpPr/>
          <p:nvPr/>
        </p:nvCxnSpPr>
        <p:spPr>
          <a:xfrm rot="10800000">
            <a:off x="4680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3" name="Google Shape;593;p78"/>
          <p:cNvSpPr/>
          <p:nvPr/>
        </p:nvSpPr>
        <p:spPr>
          <a:xfrm>
            <a:off x="459000" y="3403489"/>
            <a:ext cx="18000" cy="180000"/>
          </a:xfrm>
          <a:prstGeom prst="roundRect">
            <a:avLst>
              <a:gd fmla="val 16667" name="adj"/>
            </a:avLst>
          </a:prstGeom>
          <a:solidFill>
            <a:srgbClr val="8993EC"/>
          </a:solidFill>
          <a:ln>
            <a:noFill/>
          </a:ln>
          <a:effectLst>
            <a:outerShdw blurRad="90791" sx="111980" rotWithShape="0" algn="ctr" dir="10620002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4" name="Google Shape;594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44470" y="3377335"/>
            <a:ext cx="1015263" cy="278154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78"/>
          <p:cNvSpPr/>
          <p:nvPr/>
        </p:nvSpPr>
        <p:spPr>
          <a:xfrm>
            <a:off x="10378996" y="3354561"/>
            <a:ext cx="21600" cy="32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6" name="Google Shape;59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099" y="0"/>
            <a:ext cx="56398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8"/>
          <p:cNvSpPr txBox="1"/>
          <p:nvPr>
            <p:ph type="title"/>
          </p:nvPr>
        </p:nvSpPr>
        <p:spPr>
          <a:xfrm>
            <a:off x="1118799" y="3270191"/>
            <a:ext cx="72570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0" i="0" sz="3200" u="none" cap="none" strike="noStrike">
                <a:solidFill>
                  <a:schemeClr val="lt2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8" name="Google Shape;598;p78"/>
          <p:cNvSpPr txBox="1"/>
          <p:nvPr>
            <p:ph idx="1" type="body"/>
          </p:nvPr>
        </p:nvSpPr>
        <p:spPr>
          <a:xfrm>
            <a:off x="1150549" y="3893840"/>
            <a:ext cx="448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200" u="none" cap="none" strike="noStrike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accent5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67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55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0538" y="337800"/>
            <a:ext cx="980534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1" i="0" sz="2800" u="none" cap="none" strike="noStrike">
                <a:solidFill>
                  <a:schemeClr val="accent2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/>
          <p:nvPr/>
        </p:nvSpPr>
        <p:spPr>
          <a:xfrm>
            <a:off x="110810" y="6573570"/>
            <a:ext cx="250819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1" i="0" lang="en-US" sz="800" u="none" cap="none" strike="noStrike">
                <a:solidFill>
                  <a:srgbClr val="A3AAC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1" i="0" sz="800" u="none" cap="none" strike="noStrike">
              <a:solidFill>
                <a:srgbClr val="A3AAC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09788" y="1890765"/>
            <a:ext cx="97839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orient="horz" pos="25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490538" y="337800"/>
            <a:ext cx="9805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  <a:defRPr b="1" i="0" sz="2800" u="none" cap="none" strike="noStrike">
                <a:solidFill>
                  <a:schemeClr val="accent2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6" name="Google Shape;306;p40"/>
          <p:cNvSpPr/>
          <p:nvPr/>
        </p:nvSpPr>
        <p:spPr>
          <a:xfrm>
            <a:off x="110810" y="6573570"/>
            <a:ext cx="250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AC3"/>
              </a:buClr>
              <a:buSzPts val="800"/>
              <a:buFont typeface="Arial"/>
              <a:buNone/>
            </a:pPr>
            <a:fld id="{00000000-1234-1234-1234-123412341234}" type="slidenum">
              <a:rPr b="1" i="0" lang="en-US" sz="800" u="none" cap="none" strike="noStrike">
                <a:solidFill>
                  <a:srgbClr val="A3AAC3"/>
                </a:solidFill>
                <a:latin typeface="Titillium Web Light"/>
                <a:ea typeface="Titillium Web Light"/>
                <a:cs typeface="Titillium Web Light"/>
                <a:sym typeface="Titillium Web Light"/>
              </a:rPr>
              <a:t>‹#›</a:t>
            </a:fld>
            <a:endParaRPr b="1" i="0" sz="800" u="none" cap="none" strike="noStrike">
              <a:solidFill>
                <a:srgbClr val="A3AAC3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307" name="Google Shape;307;p40"/>
          <p:cNvSpPr txBox="1"/>
          <p:nvPr>
            <p:ph idx="1" type="body"/>
          </p:nvPr>
        </p:nvSpPr>
        <p:spPr>
          <a:xfrm>
            <a:off x="509788" y="1890765"/>
            <a:ext cx="978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2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tillium Web"/>
              <a:buNone/>
              <a:defRPr i="0" sz="14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orient="horz" pos="2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7.png"/><Relationship Id="rId4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png"/><Relationship Id="rId4" Type="http://schemas.openxmlformats.org/officeDocument/2006/relationships/image" Target="../media/image76.png"/><Relationship Id="rId5" Type="http://schemas.openxmlformats.org/officeDocument/2006/relationships/image" Target="../media/image6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Relationship Id="rId9" Type="http://schemas.openxmlformats.org/officeDocument/2006/relationships/image" Target="../media/image114.png"/><Relationship Id="rId5" Type="http://schemas.openxmlformats.org/officeDocument/2006/relationships/image" Target="../media/image143.png"/><Relationship Id="rId6" Type="http://schemas.openxmlformats.org/officeDocument/2006/relationships/image" Target="../media/image55.png"/><Relationship Id="rId7" Type="http://schemas.openxmlformats.org/officeDocument/2006/relationships/image" Target="../media/image63.png"/><Relationship Id="rId8" Type="http://schemas.openxmlformats.org/officeDocument/2006/relationships/image" Target="../media/image56.png"/><Relationship Id="rId11" Type="http://schemas.openxmlformats.org/officeDocument/2006/relationships/image" Target="../media/image139.png"/><Relationship Id="rId10" Type="http://schemas.openxmlformats.org/officeDocument/2006/relationships/image" Target="../media/image91.png"/><Relationship Id="rId12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71.jpg"/><Relationship Id="rId9" Type="http://schemas.openxmlformats.org/officeDocument/2006/relationships/image" Target="../media/image75.png"/><Relationship Id="rId5" Type="http://schemas.openxmlformats.org/officeDocument/2006/relationships/image" Target="../media/image60.png"/><Relationship Id="rId6" Type="http://schemas.openxmlformats.org/officeDocument/2006/relationships/image" Target="../media/image66.png"/><Relationship Id="rId7" Type="http://schemas.openxmlformats.org/officeDocument/2006/relationships/image" Target="../media/image59.png"/><Relationship Id="rId8" Type="http://schemas.openxmlformats.org/officeDocument/2006/relationships/image" Target="../media/image61.png"/><Relationship Id="rId10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7.png"/><Relationship Id="rId4" Type="http://schemas.openxmlformats.org/officeDocument/2006/relationships/image" Target="../media/image74.png"/><Relationship Id="rId9" Type="http://schemas.openxmlformats.org/officeDocument/2006/relationships/image" Target="../media/image72.png"/><Relationship Id="rId5" Type="http://schemas.openxmlformats.org/officeDocument/2006/relationships/image" Target="../media/image87.png"/><Relationship Id="rId6" Type="http://schemas.openxmlformats.org/officeDocument/2006/relationships/image" Target="../media/image89.png"/><Relationship Id="rId7" Type="http://schemas.openxmlformats.org/officeDocument/2006/relationships/image" Target="../media/image68.png"/><Relationship Id="rId8" Type="http://schemas.openxmlformats.org/officeDocument/2006/relationships/image" Target="../media/image81.png"/><Relationship Id="rId11" Type="http://schemas.openxmlformats.org/officeDocument/2006/relationships/image" Target="../media/image73.jpg"/><Relationship Id="rId10" Type="http://schemas.openxmlformats.org/officeDocument/2006/relationships/image" Target="../media/image67.png"/><Relationship Id="rId13" Type="http://schemas.openxmlformats.org/officeDocument/2006/relationships/image" Target="../media/image78.png"/><Relationship Id="rId12" Type="http://schemas.openxmlformats.org/officeDocument/2006/relationships/image" Target="../media/image70.png"/><Relationship Id="rId15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6.png"/><Relationship Id="rId4" Type="http://schemas.openxmlformats.org/officeDocument/2006/relationships/image" Target="../media/image96.png"/><Relationship Id="rId9" Type="http://schemas.openxmlformats.org/officeDocument/2006/relationships/image" Target="../media/image104.png"/><Relationship Id="rId5" Type="http://schemas.openxmlformats.org/officeDocument/2006/relationships/image" Target="../media/image82.png"/><Relationship Id="rId6" Type="http://schemas.openxmlformats.org/officeDocument/2006/relationships/image" Target="../media/image79.png"/><Relationship Id="rId7" Type="http://schemas.openxmlformats.org/officeDocument/2006/relationships/image" Target="../media/image85.png"/><Relationship Id="rId8" Type="http://schemas.openxmlformats.org/officeDocument/2006/relationships/image" Target="../media/image57.png"/><Relationship Id="rId11" Type="http://schemas.openxmlformats.org/officeDocument/2006/relationships/image" Target="../media/image124.png"/><Relationship Id="rId10" Type="http://schemas.openxmlformats.org/officeDocument/2006/relationships/image" Target="../media/image84.png"/><Relationship Id="rId13" Type="http://schemas.openxmlformats.org/officeDocument/2006/relationships/image" Target="../media/image107.png"/><Relationship Id="rId12" Type="http://schemas.openxmlformats.org/officeDocument/2006/relationships/image" Target="../media/image92.png"/><Relationship Id="rId15" Type="http://schemas.openxmlformats.org/officeDocument/2006/relationships/image" Target="../media/image90.png"/><Relationship Id="rId14" Type="http://schemas.openxmlformats.org/officeDocument/2006/relationships/image" Target="../media/image95.jpg"/><Relationship Id="rId17" Type="http://schemas.openxmlformats.org/officeDocument/2006/relationships/image" Target="../media/image98.png"/><Relationship Id="rId16" Type="http://schemas.openxmlformats.org/officeDocument/2006/relationships/image" Target="../media/image9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97.png"/><Relationship Id="rId9" Type="http://schemas.openxmlformats.org/officeDocument/2006/relationships/image" Target="../media/image105.png"/><Relationship Id="rId5" Type="http://schemas.openxmlformats.org/officeDocument/2006/relationships/image" Target="../media/image100.png"/><Relationship Id="rId6" Type="http://schemas.openxmlformats.org/officeDocument/2006/relationships/image" Target="../media/image94.png"/><Relationship Id="rId7" Type="http://schemas.openxmlformats.org/officeDocument/2006/relationships/image" Target="../media/image119.png"/><Relationship Id="rId8" Type="http://schemas.openxmlformats.org/officeDocument/2006/relationships/image" Target="../media/image103.png"/><Relationship Id="rId11" Type="http://schemas.openxmlformats.org/officeDocument/2006/relationships/image" Target="../media/image106.png"/><Relationship Id="rId10" Type="http://schemas.openxmlformats.org/officeDocument/2006/relationships/image" Target="../media/image112.jpg"/><Relationship Id="rId13" Type="http://schemas.openxmlformats.org/officeDocument/2006/relationships/image" Target="../media/image117.jpg"/><Relationship Id="rId12" Type="http://schemas.openxmlformats.org/officeDocument/2006/relationships/image" Target="../media/image102.png"/><Relationship Id="rId15" Type="http://schemas.openxmlformats.org/officeDocument/2006/relationships/image" Target="../media/image101.png"/><Relationship Id="rId14" Type="http://schemas.openxmlformats.org/officeDocument/2006/relationships/image" Target="../media/image116.png"/><Relationship Id="rId17" Type="http://schemas.openxmlformats.org/officeDocument/2006/relationships/image" Target="../media/image113.png"/><Relationship Id="rId16" Type="http://schemas.openxmlformats.org/officeDocument/2006/relationships/image" Target="../media/image1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2.png"/><Relationship Id="rId4" Type="http://schemas.openxmlformats.org/officeDocument/2006/relationships/image" Target="../media/image111.png"/><Relationship Id="rId5" Type="http://schemas.openxmlformats.org/officeDocument/2006/relationships/image" Target="../media/image109.png"/><Relationship Id="rId6" Type="http://schemas.openxmlformats.org/officeDocument/2006/relationships/image" Target="../media/image115.png"/><Relationship Id="rId7" Type="http://schemas.openxmlformats.org/officeDocument/2006/relationships/image" Target="../media/image126.png"/><Relationship Id="rId8" Type="http://schemas.openxmlformats.org/officeDocument/2006/relationships/image" Target="../media/image1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2.png"/><Relationship Id="rId22" Type="http://schemas.openxmlformats.org/officeDocument/2006/relationships/image" Target="../media/image135.png"/><Relationship Id="rId21" Type="http://schemas.openxmlformats.org/officeDocument/2006/relationships/image" Target="../media/image144.png"/><Relationship Id="rId24" Type="http://schemas.openxmlformats.org/officeDocument/2006/relationships/image" Target="../media/image148.png"/><Relationship Id="rId23" Type="http://schemas.openxmlformats.org/officeDocument/2006/relationships/image" Target="../media/image15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8.png"/><Relationship Id="rId4" Type="http://schemas.openxmlformats.org/officeDocument/2006/relationships/image" Target="../media/image127.png"/><Relationship Id="rId9" Type="http://schemas.openxmlformats.org/officeDocument/2006/relationships/image" Target="../media/image120.png"/><Relationship Id="rId26" Type="http://schemas.openxmlformats.org/officeDocument/2006/relationships/image" Target="../media/image151.png"/><Relationship Id="rId25" Type="http://schemas.openxmlformats.org/officeDocument/2006/relationships/image" Target="../media/image147.png"/><Relationship Id="rId28" Type="http://schemas.openxmlformats.org/officeDocument/2006/relationships/image" Target="../media/image155.png"/><Relationship Id="rId27" Type="http://schemas.openxmlformats.org/officeDocument/2006/relationships/image" Target="../media/image158.png"/><Relationship Id="rId5" Type="http://schemas.openxmlformats.org/officeDocument/2006/relationships/image" Target="../media/image128.png"/><Relationship Id="rId6" Type="http://schemas.openxmlformats.org/officeDocument/2006/relationships/image" Target="../media/image140.png"/><Relationship Id="rId29" Type="http://schemas.openxmlformats.org/officeDocument/2006/relationships/image" Target="../media/image145.png"/><Relationship Id="rId7" Type="http://schemas.openxmlformats.org/officeDocument/2006/relationships/image" Target="../media/image121.png"/><Relationship Id="rId8" Type="http://schemas.openxmlformats.org/officeDocument/2006/relationships/image" Target="../media/image125.png"/><Relationship Id="rId31" Type="http://schemas.openxmlformats.org/officeDocument/2006/relationships/image" Target="../media/image156.png"/><Relationship Id="rId30" Type="http://schemas.openxmlformats.org/officeDocument/2006/relationships/image" Target="../media/image165.png"/><Relationship Id="rId11" Type="http://schemas.openxmlformats.org/officeDocument/2006/relationships/image" Target="../media/image136.png"/><Relationship Id="rId33" Type="http://schemas.openxmlformats.org/officeDocument/2006/relationships/image" Target="../media/image152.png"/><Relationship Id="rId10" Type="http://schemas.openxmlformats.org/officeDocument/2006/relationships/image" Target="../media/image141.png"/><Relationship Id="rId32" Type="http://schemas.openxmlformats.org/officeDocument/2006/relationships/image" Target="../media/image157.png"/><Relationship Id="rId13" Type="http://schemas.openxmlformats.org/officeDocument/2006/relationships/image" Target="../media/image130.png"/><Relationship Id="rId35" Type="http://schemas.openxmlformats.org/officeDocument/2006/relationships/image" Target="../media/image154.png"/><Relationship Id="rId12" Type="http://schemas.openxmlformats.org/officeDocument/2006/relationships/image" Target="../media/image134.png"/><Relationship Id="rId34" Type="http://schemas.openxmlformats.org/officeDocument/2006/relationships/image" Target="../media/image146.png"/><Relationship Id="rId15" Type="http://schemas.openxmlformats.org/officeDocument/2006/relationships/image" Target="../media/image138.png"/><Relationship Id="rId37" Type="http://schemas.openxmlformats.org/officeDocument/2006/relationships/image" Target="../media/image161.png"/><Relationship Id="rId14" Type="http://schemas.openxmlformats.org/officeDocument/2006/relationships/image" Target="../media/image133.png"/><Relationship Id="rId36" Type="http://schemas.openxmlformats.org/officeDocument/2006/relationships/image" Target="../media/image149.png"/><Relationship Id="rId17" Type="http://schemas.openxmlformats.org/officeDocument/2006/relationships/image" Target="../media/image131.jpg"/><Relationship Id="rId16" Type="http://schemas.openxmlformats.org/officeDocument/2006/relationships/image" Target="../media/image142.png"/><Relationship Id="rId19" Type="http://schemas.openxmlformats.org/officeDocument/2006/relationships/image" Target="../media/image160.png"/><Relationship Id="rId18" Type="http://schemas.openxmlformats.org/officeDocument/2006/relationships/image" Target="../media/image1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9.png"/><Relationship Id="rId4" Type="http://schemas.openxmlformats.org/officeDocument/2006/relationships/image" Target="../media/image164.png"/><Relationship Id="rId5" Type="http://schemas.openxmlformats.org/officeDocument/2006/relationships/image" Target="../media/image150.png"/><Relationship Id="rId6" Type="http://schemas.openxmlformats.org/officeDocument/2006/relationships/image" Target="../media/image163.png"/><Relationship Id="rId7" Type="http://schemas.openxmlformats.org/officeDocument/2006/relationships/image" Target="../media/image162.png"/><Relationship Id="rId8" Type="http://schemas.openxmlformats.org/officeDocument/2006/relationships/hyperlink" Target="https://www.riskified.com/events/mrc-2026-riskified-aws-yuno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9"/>
          <p:cNvSpPr txBox="1"/>
          <p:nvPr>
            <p:ph type="title"/>
          </p:nvPr>
        </p:nvSpPr>
        <p:spPr>
          <a:xfrm>
            <a:off x="490550" y="3137950"/>
            <a:ext cx="7112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 sz="5000">
                <a:solidFill>
                  <a:schemeClr val="lt1"/>
                </a:solidFill>
              </a:rPr>
              <a:t>ALL HANDS MEETING</a:t>
            </a:r>
            <a:endParaRPr sz="5000"/>
          </a:p>
        </p:txBody>
      </p:sp>
      <p:sp>
        <p:nvSpPr>
          <p:cNvPr id="604" name="Google Shape;604;p79"/>
          <p:cNvSpPr txBox="1"/>
          <p:nvPr>
            <p:ph idx="1" type="subTitle"/>
          </p:nvPr>
        </p:nvSpPr>
        <p:spPr>
          <a:xfrm>
            <a:off x="490557" y="5926764"/>
            <a:ext cx="10676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1400"/>
              <a:t>March 19, 2026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80"/>
          <p:cNvSpPr txBox="1"/>
          <p:nvPr>
            <p:ph type="title"/>
          </p:nvPr>
        </p:nvSpPr>
        <p:spPr>
          <a:xfrm>
            <a:off x="757879" y="1184484"/>
            <a:ext cx="2321871" cy="49244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tillium Web SemiBold"/>
              <a:buNone/>
            </a:pPr>
            <a:r>
              <a:rPr lang="en-US">
                <a:latin typeface="Titillium Web"/>
                <a:ea typeface="Titillium Web"/>
                <a:cs typeface="Titillium Web"/>
                <a:sym typeface="Titillium Web"/>
              </a:rPr>
              <a:t>Agenda</a:t>
            </a:r>
            <a:endParaRPr/>
          </a:p>
        </p:txBody>
      </p:sp>
      <p:sp>
        <p:nvSpPr>
          <p:cNvPr id="610" name="Google Shape;610;p80"/>
          <p:cNvSpPr/>
          <p:nvPr/>
        </p:nvSpPr>
        <p:spPr>
          <a:xfrm>
            <a:off x="4646980" y="2673533"/>
            <a:ext cx="2913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80"/>
          <p:cNvSpPr/>
          <p:nvPr/>
        </p:nvSpPr>
        <p:spPr>
          <a:xfrm>
            <a:off x="4413891" y="1739596"/>
            <a:ext cx="2913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5"/>
              <a:buFont typeface="Arial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Founders Updates</a:t>
            </a:r>
            <a:endParaRPr sz="163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612" name="Google Shape;612;p80"/>
          <p:cNvCxnSpPr/>
          <p:nvPr/>
        </p:nvCxnSpPr>
        <p:spPr>
          <a:xfrm>
            <a:off x="4206702" y="2779261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3" name="Google Shape;613;p80"/>
          <p:cNvSpPr/>
          <p:nvPr/>
        </p:nvSpPr>
        <p:spPr>
          <a:xfrm>
            <a:off x="8395818" y="3510552"/>
            <a:ext cx="2913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31">
                <a:latin typeface="Titillium Web"/>
                <a:ea typeface="Titillium Web"/>
                <a:cs typeface="Titillium Web"/>
                <a:sym typeface="Titillium Web"/>
              </a:rPr>
              <a:t>Legal &amp; Compliance</a:t>
            </a:r>
            <a:endParaRPr sz="1631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14" name="Google Shape;614;p80"/>
          <p:cNvSpPr/>
          <p:nvPr/>
        </p:nvSpPr>
        <p:spPr>
          <a:xfrm>
            <a:off x="8790772" y="3915846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80"/>
          <p:cNvSpPr/>
          <p:nvPr/>
        </p:nvSpPr>
        <p:spPr>
          <a:xfrm>
            <a:off x="8894367" y="6118527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80"/>
          <p:cNvSpPr/>
          <p:nvPr/>
        </p:nvSpPr>
        <p:spPr>
          <a:xfrm>
            <a:off x="8894367" y="5545829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80"/>
          <p:cNvSpPr/>
          <p:nvPr/>
        </p:nvSpPr>
        <p:spPr>
          <a:xfrm>
            <a:off x="8790772" y="3299095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80"/>
          <p:cNvSpPr/>
          <p:nvPr/>
        </p:nvSpPr>
        <p:spPr>
          <a:xfrm>
            <a:off x="8188628" y="4929078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80"/>
          <p:cNvSpPr/>
          <p:nvPr/>
        </p:nvSpPr>
        <p:spPr>
          <a:xfrm>
            <a:off x="8143305" y="2074403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80"/>
          <p:cNvSpPr/>
          <p:nvPr/>
        </p:nvSpPr>
        <p:spPr>
          <a:xfrm>
            <a:off x="8143305" y="1184521"/>
            <a:ext cx="207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4300" lIns="124300" spcFirstLastPara="1" rIns="124300" wrap="square" tIns="124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1" name="Google Shape;62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203" y="1801272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2" name="Google Shape;62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385" y="4329949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3" name="Google Shape;62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8628" y="3607470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4" name="Google Shape;62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025" y="3572227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5" name="Google Shape;62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702" y="2973097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6" name="Google Shape;62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702" y="1801272"/>
            <a:ext cx="207190" cy="281943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80"/>
          <p:cNvSpPr/>
          <p:nvPr/>
        </p:nvSpPr>
        <p:spPr>
          <a:xfrm>
            <a:off x="4669717" y="3854170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Americas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80"/>
          <p:cNvSpPr/>
          <p:nvPr/>
        </p:nvSpPr>
        <p:spPr>
          <a:xfrm>
            <a:off x="4462528" y="3422445"/>
            <a:ext cx="31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Commercial ORG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80"/>
          <p:cNvSpPr/>
          <p:nvPr/>
        </p:nvSpPr>
        <p:spPr>
          <a:xfrm>
            <a:off x="8314961" y="1713165"/>
            <a:ext cx="31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Partnerships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80"/>
          <p:cNvSpPr/>
          <p:nvPr/>
        </p:nvSpPr>
        <p:spPr>
          <a:xfrm>
            <a:off x="4481952" y="2946666"/>
            <a:ext cx="31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Product &amp; Tech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80"/>
          <p:cNvSpPr/>
          <p:nvPr/>
        </p:nvSpPr>
        <p:spPr>
          <a:xfrm>
            <a:off x="4436629" y="2347537"/>
            <a:ext cx="3172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New Team Members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2" name="Google Shape;632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203" y="2929045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3" name="Google Shape;63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385" y="4761675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4" name="Google Shape;63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385" y="5184590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5" name="Google Shape;635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2600" y="2365158"/>
            <a:ext cx="207190" cy="281943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80"/>
          <p:cNvSpPr/>
          <p:nvPr/>
        </p:nvSpPr>
        <p:spPr>
          <a:xfrm>
            <a:off x="4669717" y="4277085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Latam &amp; Brazil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80"/>
          <p:cNvSpPr/>
          <p:nvPr/>
        </p:nvSpPr>
        <p:spPr>
          <a:xfrm>
            <a:off x="4669717" y="4699999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APAC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80"/>
          <p:cNvSpPr/>
          <p:nvPr/>
        </p:nvSpPr>
        <p:spPr>
          <a:xfrm>
            <a:off x="4669717" y="5122914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Europe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80"/>
          <p:cNvSpPr/>
          <p:nvPr/>
        </p:nvSpPr>
        <p:spPr>
          <a:xfrm>
            <a:off x="8399131" y="2303482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SDR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0" name="Google Shape;64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203" y="4620704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1" name="Google Shape;64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203" y="4056817"/>
            <a:ext cx="207190" cy="2819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2" name="Google Shape;642;p80"/>
          <p:cNvCxnSpPr/>
          <p:nvPr/>
        </p:nvCxnSpPr>
        <p:spPr>
          <a:xfrm>
            <a:off x="4206702" y="3343148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80"/>
          <p:cNvCxnSpPr/>
          <p:nvPr/>
        </p:nvCxnSpPr>
        <p:spPr>
          <a:xfrm>
            <a:off x="4206702" y="2215375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80"/>
          <p:cNvCxnSpPr/>
          <p:nvPr/>
        </p:nvCxnSpPr>
        <p:spPr>
          <a:xfrm>
            <a:off x="8143305" y="2215375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80"/>
          <p:cNvCxnSpPr/>
          <p:nvPr/>
        </p:nvCxnSpPr>
        <p:spPr>
          <a:xfrm>
            <a:off x="8143305" y="2779261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646" name="Google Shape;64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3385" y="3915846"/>
            <a:ext cx="207190" cy="2819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47" name="Google Shape;64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203" y="2365158"/>
            <a:ext cx="207190" cy="281943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80"/>
          <p:cNvSpPr/>
          <p:nvPr/>
        </p:nvSpPr>
        <p:spPr>
          <a:xfrm>
            <a:off x="8399131" y="2867369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Marketing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9" name="Google Shape;649;p80"/>
          <p:cNvCxnSpPr/>
          <p:nvPr/>
        </p:nvCxnSpPr>
        <p:spPr>
          <a:xfrm>
            <a:off x="8143305" y="3343148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80"/>
          <p:cNvCxnSpPr/>
          <p:nvPr/>
        </p:nvCxnSpPr>
        <p:spPr>
          <a:xfrm>
            <a:off x="8143305" y="3907034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80"/>
          <p:cNvCxnSpPr/>
          <p:nvPr/>
        </p:nvCxnSpPr>
        <p:spPr>
          <a:xfrm>
            <a:off x="8143305" y="5034807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80"/>
          <p:cNvCxnSpPr/>
          <p:nvPr/>
        </p:nvCxnSpPr>
        <p:spPr>
          <a:xfrm>
            <a:off x="8143305" y="4470921"/>
            <a:ext cx="2913600" cy="0"/>
          </a:xfrm>
          <a:prstGeom prst="straightConnector1">
            <a:avLst/>
          </a:prstGeom>
          <a:noFill/>
          <a:ln cap="flat" cmpd="sng" w="17275">
            <a:solidFill>
              <a:srgbClr val="282A30">
                <a:alpha val="2392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80"/>
          <p:cNvSpPr/>
          <p:nvPr/>
        </p:nvSpPr>
        <p:spPr>
          <a:xfrm>
            <a:off x="8399131" y="3995141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People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80"/>
          <p:cNvSpPr/>
          <p:nvPr/>
        </p:nvSpPr>
        <p:spPr>
          <a:xfrm>
            <a:off x="8399131" y="4559028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AI Demo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80"/>
          <p:cNvSpPr/>
          <p:nvPr/>
        </p:nvSpPr>
        <p:spPr>
          <a:xfrm>
            <a:off x="4678371" y="5529550"/>
            <a:ext cx="2130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125" lIns="124300" spcFirstLastPara="1" rIns="124300" wrap="square" tIns="62125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82A30"/>
              </a:buClr>
              <a:buSzPts val="1631"/>
              <a:buFont typeface="Titillium Web"/>
              <a:buNone/>
            </a:pPr>
            <a:r>
              <a:rPr lang="en-US" sz="1631">
                <a:solidFill>
                  <a:srgbClr val="282A30"/>
                </a:solidFill>
                <a:latin typeface="Titillium Web"/>
                <a:ea typeface="Titillium Web"/>
                <a:cs typeface="Titillium Web"/>
                <a:sym typeface="Titillium Web"/>
              </a:rPr>
              <a:t>Menat</a:t>
            </a:r>
            <a:endParaRPr b="0" i="0" sz="1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6" name="Google Shape;656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039" y="5528880"/>
            <a:ext cx="207190" cy="281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1"/>
          <p:cNvSpPr txBox="1"/>
          <p:nvPr>
            <p:ph type="title"/>
          </p:nvPr>
        </p:nvSpPr>
        <p:spPr>
          <a:xfrm>
            <a:off x="757875" y="4136087"/>
            <a:ext cx="43422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 sz="5000"/>
              <a:t>Founders </a:t>
            </a:r>
            <a:endParaRPr sz="5000"/>
          </a:p>
        </p:txBody>
      </p:sp>
      <p:sp>
        <p:nvSpPr>
          <p:cNvPr id="662" name="Google Shape;662;p81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08:00 - 08:10</a:t>
            </a:r>
            <a:endParaRPr sz="3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/>
          <p:nvPr>
            <p:ph type="title"/>
          </p:nvPr>
        </p:nvSpPr>
        <p:spPr>
          <a:xfrm>
            <a:off x="757875" y="4257199"/>
            <a:ext cx="106764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NEW TEAM MEMBERS</a:t>
            </a:r>
            <a:endParaRPr/>
          </a:p>
        </p:txBody>
      </p:sp>
      <p:sp>
        <p:nvSpPr>
          <p:cNvPr id="668" name="Google Shape;668;p82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08:11 - 08:12</a:t>
            </a:r>
            <a:endParaRPr sz="3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3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 TEAM MEMBERS</a:t>
            </a:r>
            <a:endParaRPr/>
          </a:p>
        </p:txBody>
      </p:sp>
      <p:sp>
        <p:nvSpPr>
          <p:cNvPr id="674" name="Google Shape;674;p83"/>
          <p:cNvSpPr txBox="1"/>
          <p:nvPr>
            <p:ph type="title"/>
          </p:nvPr>
        </p:nvSpPr>
        <p:spPr>
          <a:xfrm>
            <a:off x="515953" y="545451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WELCOME TO THE TEAM</a:t>
            </a:r>
            <a:endParaRPr/>
          </a:p>
        </p:txBody>
      </p:sp>
      <p:cxnSp>
        <p:nvCxnSpPr>
          <p:cNvPr id="675" name="Google Shape;675;p83"/>
          <p:cNvCxnSpPr/>
          <p:nvPr/>
        </p:nvCxnSpPr>
        <p:spPr>
          <a:xfrm>
            <a:off x="5394690" y="3452528"/>
            <a:ext cx="0" cy="23019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83"/>
          <p:cNvCxnSpPr>
            <a:stCxn id="674" idx="3"/>
          </p:cNvCxnSpPr>
          <p:nvPr/>
        </p:nvCxnSpPr>
        <p:spPr>
          <a:xfrm>
            <a:off x="11434153" y="791751"/>
            <a:ext cx="71700" cy="51513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7" name="Google Shape;677;p83"/>
          <p:cNvSpPr txBox="1"/>
          <p:nvPr/>
        </p:nvSpPr>
        <p:spPr>
          <a:xfrm>
            <a:off x="2216702" y="4682118"/>
            <a:ext cx="219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GUSTAVO MENDES</a:t>
            </a:r>
            <a:b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</a:b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 </a:t>
            </a:r>
            <a:r>
              <a:rPr b="1" lang="en-US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Senior AI Engineer</a:t>
            </a:r>
            <a:endParaRPr/>
          </a:p>
        </p:txBody>
      </p:sp>
      <p:pic>
        <p:nvPicPr>
          <p:cNvPr id="678" name="Google Shape;67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774" y="2455812"/>
            <a:ext cx="1890600" cy="1946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79" name="Google Shape;679;p83"/>
          <p:cNvSpPr/>
          <p:nvPr/>
        </p:nvSpPr>
        <p:spPr>
          <a:xfrm>
            <a:off x="1807412" y="1577058"/>
            <a:ext cx="2345100" cy="650100"/>
          </a:xfrm>
          <a:prstGeom prst="rect">
            <a:avLst/>
          </a:prstGeom>
          <a:solidFill>
            <a:srgbClr val="4959E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itillium Web"/>
              <a:buNone/>
            </a:pPr>
            <a:br>
              <a:rPr b="1" lang="en-US" sz="13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AI  Infrastructure</a:t>
            </a:r>
            <a:endParaRPr sz="15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itillium Web"/>
              <a:buNone/>
            </a:pPr>
            <a:r>
              <a:t/>
            </a:r>
            <a:endParaRPr sz="1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80" name="Google Shape;680;p83"/>
          <p:cNvSpPr txBox="1"/>
          <p:nvPr/>
        </p:nvSpPr>
        <p:spPr>
          <a:xfrm>
            <a:off x="6894100" y="4682125"/>
            <a:ext cx="26046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MAURICIO SCHWARTZMANN</a:t>
            </a:r>
            <a:b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</a:br>
            <a:r>
              <a:rPr b="1" lang="en-US" sz="1200">
                <a:solidFill>
                  <a:schemeClr val="dk1"/>
                </a:solidFill>
              </a:rPr>
              <a:t>Chief Banking &amp; Financial Institutions Officer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chemeClr val="accent1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681" name="Google Shape;681;p83"/>
          <p:cNvSpPr/>
          <p:nvPr/>
        </p:nvSpPr>
        <p:spPr>
          <a:xfrm>
            <a:off x="6779637" y="1577058"/>
            <a:ext cx="2345100" cy="650100"/>
          </a:xfrm>
          <a:prstGeom prst="rect">
            <a:avLst/>
          </a:prstGeom>
          <a:solidFill>
            <a:srgbClr val="4959E2"/>
          </a:solidFill>
          <a:ln>
            <a:noFill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itillium Web"/>
              <a:buNone/>
            </a:pPr>
            <a:br>
              <a:rPr b="1" lang="en-US" sz="13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GTM</a:t>
            </a:r>
            <a:endParaRPr sz="15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Titillium Web"/>
              <a:buNone/>
            </a:pPr>
            <a:r>
              <a:t/>
            </a:r>
            <a:endParaRPr sz="1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682" name="Google Shape;68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7025" y="2415274"/>
            <a:ext cx="1750200" cy="1904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4"/>
          <p:cNvSpPr txBox="1"/>
          <p:nvPr>
            <p:ph type="title"/>
          </p:nvPr>
        </p:nvSpPr>
        <p:spPr>
          <a:xfrm>
            <a:off x="757875" y="4257197"/>
            <a:ext cx="106764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PRODUCT &amp; TECH</a:t>
            </a:r>
            <a:endParaRPr/>
          </a:p>
        </p:txBody>
      </p:sp>
      <p:sp>
        <p:nvSpPr>
          <p:cNvPr id="688" name="Google Shape;688;p84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08:13 - 08:17</a:t>
            </a:r>
            <a:endParaRPr sz="3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85"/>
          <p:cNvSpPr txBox="1"/>
          <p:nvPr>
            <p:ph type="title"/>
          </p:nvPr>
        </p:nvSpPr>
        <p:spPr>
          <a:xfrm>
            <a:off x="757878" y="586626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Integrations</a:t>
            </a:r>
            <a:endParaRPr/>
          </a:p>
        </p:txBody>
      </p:sp>
      <p:sp>
        <p:nvSpPr>
          <p:cNvPr id="694" name="Google Shape;694;p85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SECTION TITLE</a:t>
            </a:r>
            <a:endParaRPr/>
          </a:p>
        </p:txBody>
      </p:sp>
      <p:graphicFrame>
        <p:nvGraphicFramePr>
          <p:cNvPr id="695" name="Google Shape;695;p85"/>
          <p:cNvGraphicFramePr/>
          <p:nvPr/>
        </p:nvGraphicFramePr>
        <p:xfrm>
          <a:off x="757817" y="12582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{00EE9726-6C4F-4318-AD9E-1C56E25DB3F7}</a:tableStyleId>
              </a:tblPr>
              <a:tblGrid>
                <a:gridCol w="1017300"/>
                <a:gridCol w="2612425"/>
                <a:gridCol w="2296650"/>
                <a:gridCol w="2392050"/>
                <a:gridCol w="2392050"/>
              </a:tblGrid>
              <a:tr h="57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LATAM</a:t>
                      </a:r>
                      <a:endParaRPr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APAC</a:t>
                      </a:r>
                      <a:endParaRPr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NORTHAM</a:t>
                      </a:r>
                      <a:endParaRPr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EMEA</a:t>
                      </a:r>
                      <a:endParaRPr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</a:tr>
              <a:tr h="130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New Releases</a:t>
                      </a:r>
                      <a:endParaRPr u="none" cap="none" strike="noStrike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Refacil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- PSE and Breb-B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Cielo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Antifraud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Fintoc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Enrollable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Transbank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Merchant order ID for BigBox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Mercadopago Checkout Pro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binary_mode feature request for Epson Peru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PayU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Rapyd API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Bamboo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Migration V1 to V3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NTT Data -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Korea Cards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Forter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- Card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MPGS builder -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Card (SAB, ICICMS, QNB_MPGS)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41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 Progress</a:t>
                      </a:r>
                      <a:endParaRPr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Diners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Cards (EC)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PagarMe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– Card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SafetyPay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– Cash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BBVA Bancomer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Card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VR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Card API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BAC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Card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Adyen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PIX Automático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EBANX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- Dispute API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BillDesk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- UPI Autopay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Razorpay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UPI Autopay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Adyen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UPI Autopay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Antom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Cards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Shift4 -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Cards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CCAvenue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– Card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JP Morgan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Card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QNB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QPay and Card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EBANX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Provider Installments Card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-285750" lvl="0" marL="2857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Titillium Web"/>
                        <a:buChar char="•"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AMEX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- NT support </a:t>
                      </a:r>
                      <a:endParaRPr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6"/>
          <p:cNvSpPr txBox="1"/>
          <p:nvPr>
            <p:ph type="title"/>
          </p:nvPr>
        </p:nvSpPr>
        <p:spPr>
          <a:xfrm>
            <a:off x="757878" y="6052525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Dashboard</a:t>
            </a:r>
            <a:r>
              <a:rPr lang="en-US"/>
              <a:t> &amp; Reconciliations</a:t>
            </a:r>
            <a:endParaRPr/>
          </a:p>
        </p:txBody>
      </p:sp>
      <p:sp>
        <p:nvSpPr>
          <p:cNvPr id="701" name="Google Shape;701;p86"/>
          <p:cNvSpPr/>
          <p:nvPr/>
        </p:nvSpPr>
        <p:spPr>
          <a:xfrm>
            <a:off x="757878" y="3325257"/>
            <a:ext cx="5347200" cy="2436600"/>
          </a:xfrm>
          <a:prstGeom prst="rect">
            <a:avLst/>
          </a:prstGeom>
          <a:noFill/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86"/>
          <p:cNvSpPr/>
          <p:nvPr/>
        </p:nvSpPr>
        <p:spPr>
          <a:xfrm>
            <a:off x="6104999" y="888692"/>
            <a:ext cx="5347200" cy="2436600"/>
          </a:xfrm>
          <a:prstGeom prst="rect">
            <a:avLst/>
          </a:prstGeom>
          <a:noFill/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86"/>
          <p:cNvSpPr txBox="1"/>
          <p:nvPr/>
        </p:nvSpPr>
        <p:spPr>
          <a:xfrm>
            <a:off x="1536043" y="1711276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New releases</a:t>
            </a:r>
            <a:endParaRPr/>
          </a:p>
        </p:txBody>
      </p:sp>
      <p:sp>
        <p:nvSpPr>
          <p:cNvPr id="704" name="Google Shape;704;p86"/>
          <p:cNvSpPr txBox="1"/>
          <p:nvPr/>
        </p:nvSpPr>
        <p:spPr>
          <a:xfrm>
            <a:off x="1227571" y="2025620"/>
            <a:ext cx="430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Tembici - Mercado Pago - Colombia: Activation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Mercado Libre - Diners: Mapping custom report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Agentic Recon Milestone 0: Definitions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05" name="Google Shape;705;p86"/>
          <p:cNvSpPr txBox="1"/>
          <p:nvPr/>
        </p:nvSpPr>
        <p:spPr>
          <a:xfrm>
            <a:off x="7096554" y="1711276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In progress</a:t>
            </a:r>
            <a:endParaRPr/>
          </a:p>
        </p:txBody>
      </p:sp>
      <p:sp>
        <p:nvSpPr>
          <p:cNvPr id="706" name="Google Shape;706;p86"/>
          <p:cNvSpPr txBox="1"/>
          <p:nvPr/>
        </p:nvSpPr>
        <p:spPr>
          <a:xfrm>
            <a:off x="6788082" y="2025620"/>
            <a:ext cx="43083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Uber - QI - Iraq: Automation of the flow and alerts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Rappi - Nupay: Forward raw settlement files to Rappi SFTP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Mercado Pago - Refactor implementation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●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Agentic recon: Raw processor microservice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707" name="Google Shape;707;p86"/>
          <p:cNvGrpSpPr/>
          <p:nvPr/>
        </p:nvGrpSpPr>
        <p:grpSpPr>
          <a:xfrm>
            <a:off x="1227702" y="1735683"/>
            <a:ext cx="144704" cy="144704"/>
            <a:chOff x="4444253" y="4002170"/>
            <a:chExt cx="95250" cy="95250"/>
          </a:xfrm>
        </p:grpSpPr>
        <p:sp>
          <p:nvSpPr>
            <p:cNvPr id="708" name="Google Shape;708;p86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86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0" name="Google Shape;710;p86"/>
          <p:cNvGrpSpPr/>
          <p:nvPr/>
        </p:nvGrpSpPr>
        <p:grpSpPr>
          <a:xfrm>
            <a:off x="6788213" y="1735683"/>
            <a:ext cx="144704" cy="144704"/>
            <a:chOff x="4444253" y="4002170"/>
            <a:chExt cx="95250" cy="95250"/>
          </a:xfrm>
        </p:grpSpPr>
        <p:sp>
          <p:nvSpPr>
            <p:cNvPr id="711" name="Google Shape;711;p86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86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3" name="Google Shape;713;p86"/>
          <p:cNvGrpSpPr/>
          <p:nvPr/>
        </p:nvGrpSpPr>
        <p:grpSpPr>
          <a:xfrm>
            <a:off x="5946064" y="4392371"/>
            <a:ext cx="302336" cy="302336"/>
            <a:chOff x="5946064" y="4458625"/>
            <a:chExt cx="302336" cy="302336"/>
          </a:xfrm>
        </p:grpSpPr>
        <p:sp>
          <p:nvSpPr>
            <p:cNvPr id="714" name="Google Shape;714;p86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5" name="Google Shape;715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6" name="Google Shape;716;p86"/>
          <p:cNvGrpSpPr/>
          <p:nvPr/>
        </p:nvGrpSpPr>
        <p:grpSpPr>
          <a:xfrm rot="10800000">
            <a:off x="5946064" y="1955806"/>
            <a:ext cx="302336" cy="302336"/>
            <a:chOff x="5946064" y="4458625"/>
            <a:chExt cx="302336" cy="302336"/>
          </a:xfrm>
        </p:grpSpPr>
        <p:sp>
          <p:nvSpPr>
            <p:cNvPr id="717" name="Google Shape;717;p86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18" name="Google Shape;718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9" name="Google Shape;719;p86"/>
          <p:cNvGrpSpPr/>
          <p:nvPr/>
        </p:nvGrpSpPr>
        <p:grpSpPr>
          <a:xfrm rot="-5400000">
            <a:off x="8627391" y="3181851"/>
            <a:ext cx="302336" cy="302336"/>
            <a:chOff x="5946064" y="4458625"/>
            <a:chExt cx="302336" cy="302336"/>
          </a:xfrm>
        </p:grpSpPr>
        <p:sp>
          <p:nvSpPr>
            <p:cNvPr id="720" name="Google Shape;720;p86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21" name="Google Shape;721;p8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2" name="Google Shape;722;p86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 &amp; TECH</a:t>
            </a:r>
            <a:endParaRPr/>
          </a:p>
        </p:txBody>
      </p:sp>
      <p:pic>
        <p:nvPicPr>
          <p:cNvPr id="723" name="Google Shape;723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8975" y="3776425"/>
            <a:ext cx="4925501" cy="153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0800" y="3636575"/>
            <a:ext cx="4925501" cy="2691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7"/>
          <p:cNvSpPr txBox="1"/>
          <p:nvPr>
            <p:ph type="title"/>
          </p:nvPr>
        </p:nvSpPr>
        <p:spPr>
          <a:xfrm>
            <a:off x="757875" y="4257200"/>
            <a:ext cx="48267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COMMERCIAL ORG</a:t>
            </a:r>
            <a:endParaRPr/>
          </a:p>
        </p:txBody>
      </p:sp>
      <p:sp>
        <p:nvSpPr>
          <p:cNvPr id="730" name="Google Shape;730;p87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08:18 - 08:28</a:t>
            </a:r>
            <a:endParaRPr sz="3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88"/>
          <p:cNvSpPr/>
          <p:nvPr/>
        </p:nvSpPr>
        <p:spPr>
          <a:xfrm rot="-5400000">
            <a:off x="2164399" y="1897697"/>
            <a:ext cx="2583180" cy="5280026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88"/>
          <p:cNvSpPr/>
          <p:nvPr/>
        </p:nvSpPr>
        <p:spPr>
          <a:xfrm flipH="1" rot="5400000">
            <a:off x="7444117" y="-685575"/>
            <a:ext cx="2583180" cy="5280026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88"/>
          <p:cNvSpPr txBox="1"/>
          <p:nvPr>
            <p:ph idx="1" type="body"/>
          </p:nvPr>
        </p:nvSpPr>
        <p:spPr>
          <a:xfrm>
            <a:off x="757887" y="294533"/>
            <a:ext cx="429036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ORG</a:t>
            </a:r>
            <a:endParaRPr/>
          </a:p>
        </p:txBody>
      </p:sp>
      <p:sp>
        <p:nvSpPr>
          <p:cNvPr id="738" name="Google Shape;738;p88"/>
          <p:cNvSpPr txBox="1"/>
          <p:nvPr>
            <p:ph type="title"/>
          </p:nvPr>
        </p:nvSpPr>
        <p:spPr>
          <a:xfrm>
            <a:off x="757878" y="6052525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North America</a:t>
            </a:r>
            <a:endParaRPr/>
          </a:p>
        </p:txBody>
      </p:sp>
      <p:sp>
        <p:nvSpPr>
          <p:cNvPr id="739" name="Google Shape;739;p88"/>
          <p:cNvSpPr txBox="1"/>
          <p:nvPr/>
        </p:nvSpPr>
        <p:spPr>
          <a:xfrm>
            <a:off x="1889198" y="1575349"/>
            <a:ext cx="21931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Recent Events</a:t>
            </a:r>
            <a:endParaRPr/>
          </a:p>
        </p:txBody>
      </p:sp>
      <p:sp>
        <p:nvSpPr>
          <p:cNvPr id="740" name="Google Shape;740;p88"/>
          <p:cNvSpPr txBox="1"/>
          <p:nvPr/>
        </p:nvSpPr>
        <p:spPr>
          <a:xfrm>
            <a:off x="1580726" y="1889693"/>
            <a:ext cx="43083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/>
              <a:t>Payments Dinner (New York)</a:t>
            </a:r>
            <a:br>
              <a:rPr lang="en-US"/>
            </a:br>
            <a:r>
              <a:rPr lang="en-US"/>
              <a:t>VGS - AGENT CONNECT (San Francisco)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/>
              <a:t>GDC (San Francisco)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/>
              <a:t>MRC (Las Vegas)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41" name="Google Shape;741;p88"/>
          <p:cNvSpPr txBox="1"/>
          <p:nvPr/>
        </p:nvSpPr>
        <p:spPr>
          <a:xfrm>
            <a:off x="7096554" y="1575349"/>
            <a:ext cx="21931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New Deals</a:t>
            </a:r>
            <a:endParaRPr/>
          </a:p>
        </p:txBody>
      </p:sp>
      <p:sp>
        <p:nvSpPr>
          <p:cNvPr id="742" name="Google Shape;742;p88"/>
          <p:cNvSpPr txBox="1"/>
          <p:nvPr/>
        </p:nvSpPr>
        <p:spPr>
          <a:xfrm>
            <a:off x="6788082" y="1889693"/>
            <a:ext cx="4308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Discord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Western Union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ARB Interactive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BILT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Plusgrade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43" name="Google Shape;743;p88"/>
          <p:cNvSpPr txBox="1"/>
          <p:nvPr/>
        </p:nvSpPr>
        <p:spPr>
          <a:xfrm>
            <a:off x="1889202" y="3461445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Deals in Motion</a:t>
            </a:r>
            <a:endParaRPr/>
          </a:p>
        </p:txBody>
      </p:sp>
      <p:sp>
        <p:nvSpPr>
          <p:cNvPr id="744" name="Google Shape;744;p88"/>
          <p:cNvSpPr txBox="1"/>
          <p:nvPr/>
        </p:nvSpPr>
        <p:spPr>
          <a:xfrm>
            <a:off x="1580730" y="3775789"/>
            <a:ext cx="4308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EpicVin (Go-live) - 90k ARR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-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Cencosud (Integration workshop) - 500k ARR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-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Allegiant (Final workshop Las Vegas next week) -800k ARR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-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Roblox (In Person meeting) -Awaiting RFP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-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AI (In person meeting) - Sold on Yuno -&gt; Timing/resourcing constraints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Titillium Web"/>
              <a:buChar char="-"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Kraken - final stages (reference checks)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45" name="Google Shape;745;p88"/>
          <p:cNvSpPr txBox="1"/>
          <p:nvPr/>
        </p:nvSpPr>
        <p:spPr>
          <a:xfrm>
            <a:off x="7096554" y="4142045"/>
            <a:ext cx="21931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Live Merchants</a:t>
            </a:r>
            <a:endParaRPr/>
          </a:p>
        </p:txBody>
      </p:sp>
      <p:sp>
        <p:nvSpPr>
          <p:cNvPr id="746" name="Google Shape;746;p88"/>
          <p:cNvSpPr txBox="1"/>
          <p:nvPr/>
        </p:nvSpPr>
        <p:spPr>
          <a:xfrm>
            <a:off x="6788082" y="4456389"/>
            <a:ext cx="4308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3thix - live prod testing with large Korean Social Casino. Expected $1-$4bn in PIV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GoFundMe - ramping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747" name="Google Shape;747;p88"/>
          <p:cNvGrpSpPr/>
          <p:nvPr/>
        </p:nvGrpSpPr>
        <p:grpSpPr>
          <a:xfrm>
            <a:off x="1585953" y="1599638"/>
            <a:ext cx="144701" cy="144701"/>
            <a:chOff x="4444253" y="4002170"/>
            <a:chExt cx="95250" cy="95250"/>
          </a:xfrm>
        </p:grpSpPr>
        <p:sp>
          <p:nvSpPr>
            <p:cNvPr id="748" name="Google Shape;748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0" name="Google Shape;750;p88"/>
          <p:cNvGrpSpPr/>
          <p:nvPr/>
        </p:nvGrpSpPr>
        <p:grpSpPr>
          <a:xfrm>
            <a:off x="1591834" y="3481544"/>
            <a:ext cx="144704" cy="144704"/>
            <a:chOff x="4444253" y="4002170"/>
            <a:chExt cx="95250" cy="95250"/>
          </a:xfrm>
        </p:grpSpPr>
        <p:sp>
          <p:nvSpPr>
            <p:cNvPr id="751" name="Google Shape;751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3" name="Google Shape;753;p88"/>
          <p:cNvGrpSpPr/>
          <p:nvPr/>
        </p:nvGrpSpPr>
        <p:grpSpPr>
          <a:xfrm>
            <a:off x="6787417" y="1599638"/>
            <a:ext cx="144701" cy="144701"/>
            <a:chOff x="4444253" y="4002170"/>
            <a:chExt cx="95250" cy="95250"/>
          </a:xfrm>
        </p:grpSpPr>
        <p:sp>
          <p:nvSpPr>
            <p:cNvPr id="754" name="Google Shape;754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88"/>
          <p:cNvGrpSpPr/>
          <p:nvPr/>
        </p:nvGrpSpPr>
        <p:grpSpPr>
          <a:xfrm>
            <a:off x="6787417" y="4162026"/>
            <a:ext cx="144701" cy="144701"/>
            <a:chOff x="4444253" y="4002170"/>
            <a:chExt cx="95250" cy="95250"/>
          </a:xfrm>
        </p:grpSpPr>
        <p:sp>
          <p:nvSpPr>
            <p:cNvPr id="757" name="Google Shape;757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88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p88"/>
          <p:cNvGrpSpPr/>
          <p:nvPr/>
        </p:nvGrpSpPr>
        <p:grpSpPr>
          <a:xfrm flipH="1">
            <a:off x="5946064" y="4392371"/>
            <a:ext cx="302336" cy="302336"/>
            <a:chOff x="5946064" y="4458625"/>
            <a:chExt cx="302336" cy="302336"/>
          </a:xfrm>
        </p:grpSpPr>
        <p:sp>
          <p:nvSpPr>
            <p:cNvPr id="760" name="Google Shape;760;p88"/>
            <p:cNvSpPr/>
            <p:nvPr/>
          </p:nvSpPr>
          <p:spPr>
            <a:xfrm>
              <a:off x="5974023" y="4486584"/>
              <a:ext cx="246418" cy="24641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1" name="Google Shape;761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62" name="Google Shape;762;p88"/>
          <p:cNvGrpSpPr/>
          <p:nvPr/>
        </p:nvGrpSpPr>
        <p:grpSpPr>
          <a:xfrm rot="10800000">
            <a:off x="5946064" y="1819879"/>
            <a:ext cx="302336" cy="302336"/>
            <a:chOff x="5946064" y="4458625"/>
            <a:chExt cx="302336" cy="302336"/>
          </a:xfrm>
        </p:grpSpPr>
        <p:sp>
          <p:nvSpPr>
            <p:cNvPr id="763" name="Google Shape;763;p88"/>
            <p:cNvSpPr/>
            <p:nvPr/>
          </p:nvSpPr>
          <p:spPr>
            <a:xfrm>
              <a:off x="5974023" y="4486584"/>
              <a:ext cx="246418" cy="246418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4" name="Google Shape;764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65" name="Google Shape;765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03525" y="1142475"/>
            <a:ext cx="677401" cy="67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37225" y="1214374"/>
            <a:ext cx="948625" cy="53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0252" y="1889699"/>
            <a:ext cx="677400" cy="84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80925" y="2044238"/>
            <a:ext cx="1777298" cy="5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88"/>
          <p:cNvPicPr preferRelativeResize="0"/>
          <p:nvPr/>
        </p:nvPicPr>
        <p:blipFill rotWithShape="1">
          <a:blip r:embed="rId8">
            <a:alphaModFix/>
          </a:blip>
          <a:srcRect b="33686" l="0" r="0" t="29300"/>
          <a:stretch/>
        </p:blipFill>
        <p:spPr>
          <a:xfrm>
            <a:off x="1591825" y="5106249"/>
            <a:ext cx="1452232" cy="30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48500" y="5106250"/>
            <a:ext cx="884948" cy="59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8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37900" y="5063825"/>
            <a:ext cx="677401" cy="67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8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012025" y="2627725"/>
            <a:ext cx="1294141" cy="67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8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919750" y="4884001"/>
            <a:ext cx="1126979" cy="59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9"/>
          <p:cNvSpPr/>
          <p:nvPr/>
        </p:nvSpPr>
        <p:spPr>
          <a:xfrm rot="-5400000">
            <a:off x="2164326" y="1897650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89"/>
          <p:cNvSpPr/>
          <p:nvPr/>
        </p:nvSpPr>
        <p:spPr>
          <a:xfrm flipH="1" rot="5400000">
            <a:off x="7444070" y="-685622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89"/>
          <p:cNvSpPr txBox="1"/>
          <p:nvPr>
            <p:ph type="title"/>
          </p:nvPr>
        </p:nvSpPr>
        <p:spPr>
          <a:xfrm>
            <a:off x="757878" y="6052525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LATAM </a:t>
            </a:r>
            <a:endParaRPr/>
          </a:p>
        </p:txBody>
      </p:sp>
      <p:sp>
        <p:nvSpPr>
          <p:cNvPr id="781" name="Google Shape;781;p89"/>
          <p:cNvSpPr txBox="1"/>
          <p:nvPr/>
        </p:nvSpPr>
        <p:spPr>
          <a:xfrm>
            <a:off x="1889198" y="992419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BUSINESS DEVELOPMENT</a:t>
            </a:r>
            <a:endParaRPr/>
          </a:p>
        </p:txBody>
      </p:sp>
      <p:sp>
        <p:nvSpPr>
          <p:cNvPr id="782" name="Google Shape;782;p89"/>
          <p:cNvSpPr txBox="1"/>
          <p:nvPr/>
        </p:nvSpPr>
        <p:spPr>
          <a:xfrm>
            <a:off x="1580726" y="1306763"/>
            <a:ext cx="4308300" cy="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Posthaus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: In-person meeting in SC; 200K Trx potential (Vitor Mazurek)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60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Magazord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: In-person meeting in SC; 600K Trx potential (Vitor Mazurek)</a:t>
            </a:r>
            <a:b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Hertz MX: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Negotiation completed; moving forward with contract signature and tech scoping (Saman Mortazavi)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83" name="Google Shape;783;p89"/>
          <p:cNvSpPr txBox="1"/>
          <p:nvPr/>
        </p:nvSpPr>
        <p:spPr>
          <a:xfrm>
            <a:off x="7096554" y="992419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KAM/TAM</a:t>
            </a:r>
            <a:endParaRPr/>
          </a:p>
        </p:txBody>
      </p:sp>
      <p:sp>
        <p:nvSpPr>
          <p:cNvPr id="784" name="Google Shape;784;p89"/>
          <p:cNvSpPr txBox="1"/>
          <p:nvPr/>
        </p:nvSpPr>
        <p:spPr>
          <a:xfrm>
            <a:off x="6788082" y="1306763"/>
            <a:ext cx="4308300" cy="17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Petz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: In-person meeting held to kick off Payments Concierge pilot (Felipe Geraldelli, Emanuel Guiraud)</a:t>
            </a:r>
            <a:b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OficialFarma: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Went live with NuPay (Martin Seggewiss, Amanda Lie Kaneko)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Pague Menos: 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We are officially 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LIVE currently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live in 5 accounts, ramping next week to 100 stores, and continuing the rollout up to 1.5k stores. (Joao Athas, Paola, Helio)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85" name="Google Shape;785;p89"/>
          <p:cNvSpPr txBox="1"/>
          <p:nvPr/>
        </p:nvSpPr>
        <p:spPr>
          <a:xfrm>
            <a:off x="1883450" y="3559120"/>
            <a:ext cx="255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PARTNERSHIPS &amp; MARKETING</a:t>
            </a:r>
            <a:endParaRPr/>
          </a:p>
        </p:txBody>
      </p:sp>
      <p:sp>
        <p:nvSpPr>
          <p:cNvPr id="786" name="Google Shape;786;p89"/>
          <p:cNvSpPr txBox="1"/>
          <p:nvPr/>
        </p:nvSpPr>
        <p:spPr>
          <a:xfrm>
            <a:off x="1574980" y="3873459"/>
            <a:ext cx="430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Nuvei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: Executive dinner confirmed for Mar 26 (Sandra Gerena, Walter, Saman, Rasheed, Daniela)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grpSp>
        <p:nvGrpSpPr>
          <p:cNvPr id="787" name="Google Shape;787;p89"/>
          <p:cNvGrpSpPr/>
          <p:nvPr/>
        </p:nvGrpSpPr>
        <p:grpSpPr>
          <a:xfrm>
            <a:off x="1586084" y="1016826"/>
            <a:ext cx="144704" cy="144704"/>
            <a:chOff x="4444253" y="4002170"/>
            <a:chExt cx="95250" cy="95250"/>
          </a:xfrm>
        </p:grpSpPr>
        <p:sp>
          <p:nvSpPr>
            <p:cNvPr id="788" name="Google Shape;788;p89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89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0" name="Google Shape;790;p89"/>
          <p:cNvGrpSpPr/>
          <p:nvPr/>
        </p:nvGrpSpPr>
        <p:grpSpPr>
          <a:xfrm>
            <a:off x="1586084" y="3579214"/>
            <a:ext cx="144704" cy="144704"/>
            <a:chOff x="4444253" y="4002170"/>
            <a:chExt cx="95250" cy="95250"/>
          </a:xfrm>
        </p:grpSpPr>
        <p:sp>
          <p:nvSpPr>
            <p:cNvPr id="791" name="Google Shape;791;p89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89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3" name="Google Shape;793;p89"/>
          <p:cNvGrpSpPr/>
          <p:nvPr/>
        </p:nvGrpSpPr>
        <p:grpSpPr>
          <a:xfrm>
            <a:off x="6787548" y="1016826"/>
            <a:ext cx="144704" cy="144704"/>
            <a:chOff x="4444253" y="4002170"/>
            <a:chExt cx="95250" cy="95250"/>
          </a:xfrm>
        </p:grpSpPr>
        <p:sp>
          <p:nvSpPr>
            <p:cNvPr id="794" name="Google Shape;794;p89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89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6" name="Google Shape;796;p89"/>
          <p:cNvGrpSpPr/>
          <p:nvPr/>
        </p:nvGrpSpPr>
        <p:grpSpPr>
          <a:xfrm flipH="1">
            <a:off x="5946064" y="4392371"/>
            <a:ext cx="302336" cy="302336"/>
            <a:chOff x="5946064" y="4458625"/>
            <a:chExt cx="302336" cy="302336"/>
          </a:xfrm>
        </p:grpSpPr>
        <p:sp>
          <p:nvSpPr>
            <p:cNvPr id="797" name="Google Shape;797;p89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8" name="Google Shape;79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9" name="Google Shape;799;p89"/>
          <p:cNvGrpSpPr/>
          <p:nvPr/>
        </p:nvGrpSpPr>
        <p:grpSpPr>
          <a:xfrm rot="10800000">
            <a:off x="5946064" y="1819879"/>
            <a:ext cx="302336" cy="302336"/>
            <a:chOff x="5946064" y="4458625"/>
            <a:chExt cx="302336" cy="302336"/>
          </a:xfrm>
        </p:grpSpPr>
        <p:sp>
          <p:nvSpPr>
            <p:cNvPr id="800" name="Google Shape;800;p89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01" name="Google Shape;801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02" name="Google Shape;802;p89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ORG</a:t>
            </a:r>
            <a:endParaRPr/>
          </a:p>
        </p:txBody>
      </p:sp>
      <p:pic>
        <p:nvPicPr>
          <p:cNvPr id="803" name="Google Shape;803;p89" title="IMG-20260318-WA00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5075" y="3320587"/>
            <a:ext cx="3261300" cy="24459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804" name="Google Shape;804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3820" y="3440434"/>
            <a:ext cx="978473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89"/>
          <p:cNvPicPr preferRelativeResize="0"/>
          <p:nvPr/>
        </p:nvPicPr>
        <p:blipFill rotWithShape="1">
          <a:blip r:embed="rId6">
            <a:alphaModFix/>
          </a:blip>
          <a:srcRect b="23904" l="0" r="0" t="27391"/>
          <a:stretch/>
        </p:blipFill>
        <p:spPr>
          <a:xfrm>
            <a:off x="1889175" y="2505325"/>
            <a:ext cx="978475" cy="307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7639" y="2473599"/>
            <a:ext cx="844522" cy="3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47070" y="2517070"/>
            <a:ext cx="582166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2099" y="2906372"/>
            <a:ext cx="582149" cy="12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89"/>
          <p:cNvPicPr preferRelativeResize="0"/>
          <p:nvPr/>
        </p:nvPicPr>
        <p:blipFill rotWithShape="1">
          <a:blip r:embed="rId9">
            <a:alphaModFix/>
          </a:blip>
          <a:srcRect b="36170" l="0" r="0" t="37142"/>
          <a:stretch/>
        </p:blipFill>
        <p:spPr>
          <a:xfrm>
            <a:off x="9838365" y="2862748"/>
            <a:ext cx="807114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89"/>
          <p:cNvPicPr preferRelativeResize="0"/>
          <p:nvPr/>
        </p:nvPicPr>
        <p:blipFill rotWithShape="1">
          <a:blip r:embed="rId10">
            <a:alphaModFix/>
          </a:blip>
          <a:srcRect b="30243" l="0" r="0" t="32424"/>
          <a:stretch/>
        </p:blipFill>
        <p:spPr>
          <a:xfrm>
            <a:off x="8444649" y="2861797"/>
            <a:ext cx="582150" cy="217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90"/>
          <p:cNvSpPr/>
          <p:nvPr/>
        </p:nvSpPr>
        <p:spPr>
          <a:xfrm flipH="1" rot="5400000">
            <a:off x="7444320" y="-674547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1D35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16" name="Google Shape;816;p90"/>
          <p:cNvSpPr/>
          <p:nvPr/>
        </p:nvSpPr>
        <p:spPr>
          <a:xfrm rot="-5400000">
            <a:off x="2164326" y="1897650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D50E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17" name="Google Shape;817;p90"/>
          <p:cNvSpPr txBox="1"/>
          <p:nvPr>
            <p:ph idx="1" type="body"/>
          </p:nvPr>
        </p:nvSpPr>
        <p:spPr>
          <a:xfrm>
            <a:off x="757887" y="294533"/>
            <a:ext cx="429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COMMERCIAL ORG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90"/>
          <p:cNvSpPr txBox="1"/>
          <p:nvPr>
            <p:ph type="title"/>
          </p:nvPr>
        </p:nvSpPr>
        <p:spPr>
          <a:xfrm>
            <a:off x="638140" y="6120700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APAC</a:t>
            </a:r>
            <a:endParaRPr/>
          </a:p>
        </p:txBody>
      </p:sp>
      <p:sp>
        <p:nvSpPr>
          <p:cNvPr id="819" name="Google Shape;819;p90"/>
          <p:cNvSpPr txBox="1"/>
          <p:nvPr/>
        </p:nvSpPr>
        <p:spPr>
          <a:xfrm>
            <a:off x="1482998" y="953624"/>
            <a:ext cx="219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tillium Web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SALES OVERVIEW</a:t>
            </a:r>
            <a:endParaRPr>
              <a:solidFill>
                <a:schemeClr val="accent1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>
              <a:solidFill>
                <a:schemeClr val="accent1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820" name="Google Shape;820;p90"/>
          <p:cNvSpPr txBox="1"/>
          <p:nvPr/>
        </p:nvSpPr>
        <p:spPr>
          <a:xfrm>
            <a:off x="1392745" y="1215725"/>
            <a:ext cx="4640700" cy="23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Demo (5): two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e-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commerce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company , two AI company, one gaming company</a:t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Negotiation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(6): t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wo AI companies, one e-commerce marketplace, one e-learning company, one gaming company, one global reading platform</a:t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Contracting (3): </a:t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Yuzhen, Lanyang and Pavami</a:t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21" name="Google Shape;821;p90"/>
          <p:cNvSpPr txBox="1"/>
          <p:nvPr/>
        </p:nvSpPr>
        <p:spPr>
          <a:xfrm>
            <a:off x="7096550" y="919650"/>
            <a:ext cx="39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BUSINESS MEETINGS AND PARTNERSHIPS</a:t>
            </a: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22" name="Google Shape;822;p90"/>
          <p:cNvSpPr txBox="1"/>
          <p:nvPr/>
        </p:nvSpPr>
        <p:spPr>
          <a:xfrm>
            <a:off x="1883452" y="3572045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KAM/TAM</a:t>
            </a:r>
            <a:endParaRPr/>
          </a:p>
        </p:txBody>
      </p:sp>
      <p:sp>
        <p:nvSpPr>
          <p:cNvPr id="823" name="Google Shape;823;p90"/>
          <p:cNvSpPr txBox="1"/>
          <p:nvPr/>
        </p:nvSpPr>
        <p:spPr>
          <a:xfrm>
            <a:off x="7098604" y="3572045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MARKETING</a:t>
            </a:r>
            <a:endParaRPr/>
          </a:p>
        </p:txBody>
      </p:sp>
      <p:grpSp>
        <p:nvGrpSpPr>
          <p:cNvPr id="824" name="Google Shape;824;p90"/>
          <p:cNvGrpSpPr/>
          <p:nvPr/>
        </p:nvGrpSpPr>
        <p:grpSpPr>
          <a:xfrm>
            <a:off x="1586084" y="954993"/>
            <a:ext cx="144704" cy="144704"/>
            <a:chOff x="4444253" y="4002170"/>
            <a:chExt cx="95250" cy="95250"/>
          </a:xfrm>
        </p:grpSpPr>
        <p:sp>
          <p:nvSpPr>
            <p:cNvPr id="825" name="Google Shape;825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7" name="Google Shape;827;p90"/>
          <p:cNvGrpSpPr/>
          <p:nvPr/>
        </p:nvGrpSpPr>
        <p:grpSpPr>
          <a:xfrm>
            <a:off x="1586084" y="3607394"/>
            <a:ext cx="144704" cy="144704"/>
            <a:chOff x="4444253" y="4002170"/>
            <a:chExt cx="95250" cy="95250"/>
          </a:xfrm>
        </p:grpSpPr>
        <p:sp>
          <p:nvSpPr>
            <p:cNvPr id="828" name="Google Shape;828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0" name="Google Shape;830;p90"/>
          <p:cNvGrpSpPr/>
          <p:nvPr/>
        </p:nvGrpSpPr>
        <p:grpSpPr>
          <a:xfrm>
            <a:off x="6643373" y="955006"/>
            <a:ext cx="144704" cy="144704"/>
            <a:chOff x="4444253" y="4002170"/>
            <a:chExt cx="95250" cy="95250"/>
          </a:xfrm>
        </p:grpSpPr>
        <p:sp>
          <p:nvSpPr>
            <p:cNvPr id="831" name="Google Shape;831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3" name="Google Shape;833;p90"/>
          <p:cNvGrpSpPr/>
          <p:nvPr/>
        </p:nvGrpSpPr>
        <p:grpSpPr>
          <a:xfrm>
            <a:off x="6643373" y="3607394"/>
            <a:ext cx="144704" cy="144704"/>
            <a:chOff x="4444253" y="4002170"/>
            <a:chExt cx="95250" cy="95250"/>
          </a:xfrm>
        </p:grpSpPr>
        <p:sp>
          <p:nvSpPr>
            <p:cNvPr id="834" name="Google Shape;834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90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6" name="Google Shape;836;p90"/>
          <p:cNvGrpSpPr/>
          <p:nvPr/>
        </p:nvGrpSpPr>
        <p:grpSpPr>
          <a:xfrm flipH="1">
            <a:off x="5946064" y="4392371"/>
            <a:ext cx="302336" cy="302336"/>
            <a:chOff x="5946064" y="4458625"/>
            <a:chExt cx="302336" cy="302336"/>
          </a:xfrm>
        </p:grpSpPr>
        <p:sp>
          <p:nvSpPr>
            <p:cNvPr id="837" name="Google Shape;837;p90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8" name="Google Shape;83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9" name="Google Shape;839;p90"/>
          <p:cNvGrpSpPr/>
          <p:nvPr/>
        </p:nvGrpSpPr>
        <p:grpSpPr>
          <a:xfrm rot="10800000">
            <a:off x="5946064" y="1819879"/>
            <a:ext cx="302336" cy="302336"/>
            <a:chOff x="5946064" y="4458625"/>
            <a:chExt cx="302336" cy="302336"/>
          </a:xfrm>
        </p:grpSpPr>
        <p:sp>
          <p:nvSpPr>
            <p:cNvPr id="840" name="Google Shape;840;p90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1" name="Google Shape;84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2" name="Google Shape;842;p90"/>
          <p:cNvSpPr txBox="1"/>
          <p:nvPr/>
        </p:nvSpPr>
        <p:spPr>
          <a:xfrm>
            <a:off x="6530950" y="3495950"/>
            <a:ext cx="35568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843" name="Google Shape;84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7382" y="3839500"/>
            <a:ext cx="1814247" cy="62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85545" y="1368650"/>
            <a:ext cx="2700875" cy="6273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5" name="Google Shape;845;p90"/>
          <p:cNvSpPr txBox="1"/>
          <p:nvPr/>
        </p:nvSpPr>
        <p:spPr>
          <a:xfrm>
            <a:off x="6530950" y="3714450"/>
            <a:ext cx="3030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EBANX APAC HQ  Opening Ceremony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Mar 24, 2026 （Singapore)</a:t>
            </a:r>
            <a:b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Yuno Attendee: Leslie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Yuno*MC*TD Joint BJ Event</a:t>
            </a:r>
            <a:b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Mar 26, 2026 (Beijing)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RSVP: 14 (as of Mar 19)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Press Release: Yuno*Triple-A Partnership Announcement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Target release Date: end April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6" name="Google Shape;846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65582" y="4803200"/>
            <a:ext cx="1657855" cy="98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90" title="download-4.png"/>
          <p:cNvPicPr preferRelativeResize="0"/>
          <p:nvPr/>
        </p:nvPicPr>
        <p:blipFill rotWithShape="1">
          <a:blip r:embed="rId7">
            <a:alphaModFix/>
          </a:blip>
          <a:srcRect b="28123" l="0" r="0" t="28106"/>
          <a:stretch/>
        </p:blipFill>
        <p:spPr>
          <a:xfrm>
            <a:off x="8688525" y="2229549"/>
            <a:ext cx="949300" cy="4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90"/>
          <p:cNvSpPr txBox="1"/>
          <p:nvPr/>
        </p:nvSpPr>
        <p:spPr>
          <a:xfrm>
            <a:off x="6844650" y="2147700"/>
            <a:ext cx="181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Partnership Agreement is close to be signed.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90"/>
          <p:cNvSpPr txBox="1"/>
          <p:nvPr/>
        </p:nvSpPr>
        <p:spPr>
          <a:xfrm>
            <a:off x="6838669" y="2627894"/>
            <a:ext cx="219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New partners under KYP &amp; Contract </a:t>
            </a:r>
            <a:r>
              <a:rPr b="1" lang="en-US" sz="12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Negotiating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0" name="Google Shape;850;p90"/>
          <p:cNvPicPr preferRelativeResize="0"/>
          <p:nvPr/>
        </p:nvPicPr>
        <p:blipFill rotWithShape="1">
          <a:blip r:embed="rId8">
            <a:alphaModFix/>
          </a:blip>
          <a:srcRect b="33279" l="20546" r="21331" t="38901"/>
          <a:stretch/>
        </p:blipFill>
        <p:spPr>
          <a:xfrm>
            <a:off x="8732849" y="2816412"/>
            <a:ext cx="812688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9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14650" y="2766525"/>
            <a:ext cx="949312" cy="3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90"/>
          <p:cNvSpPr txBox="1"/>
          <p:nvPr/>
        </p:nvSpPr>
        <p:spPr>
          <a:xfrm>
            <a:off x="1586070" y="3903625"/>
            <a:ext cx="46407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I</a:t>
            </a:r>
            <a:r>
              <a:rPr lang="en-US" sz="1200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Cross-Sell &amp; Up- Sell</a:t>
            </a:r>
            <a: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2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NetEase Games </a:t>
            </a:r>
            <a:endParaRPr sz="12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b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KR acquiring via NTTD, 6K ARR </a:t>
            </a:r>
            <a:b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AR acquiring via Ebanx, 10K ARR </a:t>
            </a:r>
            <a:b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en-US" sz="12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waiting for NetEase QA and go-live </a:t>
            </a:r>
            <a:b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br>
              <a:rPr lang="en-US" sz="1185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23"/>
              <a:buFont typeface="Arial"/>
              <a:buNone/>
            </a:pPr>
            <a:r>
              <a:t/>
            </a:r>
            <a:endParaRPr sz="1185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53" name="Google Shape;853;p90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55500" y="4138525"/>
            <a:ext cx="1395250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90" title="download-2.jpg"/>
          <p:cNvPicPr preferRelativeResize="0"/>
          <p:nvPr/>
        </p:nvPicPr>
        <p:blipFill rotWithShape="1">
          <a:blip r:embed="rId11">
            <a:alphaModFix/>
          </a:blip>
          <a:srcRect b="36120" l="19276" r="19276" t="36115"/>
          <a:stretch/>
        </p:blipFill>
        <p:spPr>
          <a:xfrm>
            <a:off x="1483000" y="1619188"/>
            <a:ext cx="1140600" cy="2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855" name="Google Shape;855;p90" title="download-7.png"/>
          <p:cNvPicPr preferRelativeResize="0"/>
          <p:nvPr/>
        </p:nvPicPr>
        <p:blipFill rotWithShape="1">
          <a:blip r:embed="rId12">
            <a:alphaModFix/>
          </a:blip>
          <a:srcRect b="24785" l="0" r="0" t="29436"/>
          <a:stretch/>
        </p:blipFill>
        <p:spPr>
          <a:xfrm>
            <a:off x="2772000" y="1619212"/>
            <a:ext cx="591900" cy="2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856" name="Google Shape;856;p90" title="download-8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16025" y="2325647"/>
            <a:ext cx="484800" cy="484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857" name="Google Shape;857;p90" title="download-1.png"/>
          <p:cNvPicPr preferRelativeResize="0"/>
          <p:nvPr/>
        </p:nvPicPr>
        <p:blipFill rotWithShape="1">
          <a:blip r:embed="rId14">
            <a:alphaModFix/>
          </a:blip>
          <a:srcRect b="35205" l="18932" r="17063" t="34810"/>
          <a:stretch/>
        </p:blipFill>
        <p:spPr>
          <a:xfrm>
            <a:off x="4076451" y="2869975"/>
            <a:ext cx="861900" cy="302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858" name="Google Shape;858;p90" title="logo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470706" y="2836531"/>
            <a:ext cx="484800" cy="369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596" y="888533"/>
            <a:ext cx="978130" cy="978089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91"/>
          <p:cNvSpPr/>
          <p:nvPr/>
        </p:nvSpPr>
        <p:spPr>
          <a:xfrm flipH="1" rot="5400000">
            <a:off x="7444337" y="-686716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91"/>
          <p:cNvSpPr/>
          <p:nvPr/>
        </p:nvSpPr>
        <p:spPr>
          <a:xfrm rot="-5400000">
            <a:off x="2164359" y="1903483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91"/>
          <p:cNvSpPr txBox="1"/>
          <p:nvPr>
            <p:ph idx="1" type="body"/>
          </p:nvPr>
        </p:nvSpPr>
        <p:spPr>
          <a:xfrm>
            <a:off x="1010516" y="392711"/>
            <a:ext cx="57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ORG</a:t>
            </a:r>
            <a:endParaRPr/>
          </a:p>
        </p:txBody>
      </p:sp>
      <p:sp>
        <p:nvSpPr>
          <p:cNvPr id="867" name="Google Shape;867;p91"/>
          <p:cNvSpPr txBox="1"/>
          <p:nvPr>
            <p:ph type="title"/>
          </p:nvPr>
        </p:nvSpPr>
        <p:spPr>
          <a:xfrm>
            <a:off x="1010504" y="8070033"/>
            <a:ext cx="1455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EMEA</a:t>
            </a:r>
            <a:endParaRPr/>
          </a:p>
        </p:txBody>
      </p:sp>
      <p:sp>
        <p:nvSpPr>
          <p:cNvPr id="868" name="Google Shape;868;p91"/>
          <p:cNvSpPr txBox="1"/>
          <p:nvPr/>
        </p:nvSpPr>
        <p:spPr>
          <a:xfrm>
            <a:off x="1873537" y="724266"/>
            <a:ext cx="219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The Demo Wave </a:t>
            </a:r>
            <a:endParaRPr sz="1500"/>
          </a:p>
        </p:txBody>
      </p:sp>
      <p:sp>
        <p:nvSpPr>
          <p:cNvPr id="869" name="Google Shape;869;p91"/>
          <p:cNvSpPr txBox="1"/>
          <p:nvPr/>
        </p:nvSpPr>
        <p:spPr>
          <a:xfrm>
            <a:off x="2074493" y="905344"/>
            <a:ext cx="43083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Dozens of conversations at MPE Berlin</a:t>
            </a:r>
            <a:b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b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(including Bolt, Max Mara, Delivery Hero, Adidas, LVMH, Volkswagen Rohlik., Allegro - amazing support from SDR Team, Magdalena &amp; Alejandro)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Hotels OTA - HQ Germany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Apps Publisher, HQ Poland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Fitness Studio Management Software  - HQ London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70" name="Google Shape;870;p91"/>
          <p:cNvSpPr txBox="1"/>
          <p:nvPr/>
        </p:nvSpPr>
        <p:spPr>
          <a:xfrm>
            <a:off x="6939945" y="761270"/>
            <a:ext cx="219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Deals in Progress</a:t>
            </a:r>
            <a:endParaRPr sz="1500"/>
          </a:p>
        </p:txBody>
      </p:sp>
      <p:sp>
        <p:nvSpPr>
          <p:cNvPr id="871" name="Google Shape;871;p91"/>
          <p:cNvSpPr txBox="1"/>
          <p:nvPr/>
        </p:nvSpPr>
        <p:spPr>
          <a:xfrm>
            <a:off x="7096567" y="1194533"/>
            <a:ext cx="41712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Meeting  - reconnection and exploring new opportunities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Vueling - RFP defense today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Vendo Services - Expecting decision this week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 sz="8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72" name="Google Shape;872;p91"/>
          <p:cNvSpPr txBox="1"/>
          <p:nvPr/>
        </p:nvSpPr>
        <p:spPr>
          <a:xfrm>
            <a:off x="1883452" y="3537653"/>
            <a:ext cx="219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Titans are about to sign</a:t>
            </a:r>
            <a:endParaRPr sz="1500"/>
          </a:p>
        </p:txBody>
      </p:sp>
      <p:sp>
        <p:nvSpPr>
          <p:cNvPr id="873" name="Google Shape;873;p91"/>
          <p:cNvSpPr txBox="1"/>
          <p:nvPr/>
        </p:nvSpPr>
        <p:spPr>
          <a:xfrm>
            <a:off x="7564933" y="4111867"/>
            <a:ext cx="4488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End to End testing Riskified test on Sunday. 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New round of performance test from Monday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Wroking along with Unlimit to unlock  MITs via NTiD. Debugging has been complex but we demonstrated competence and ownership. 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Municorn - Integration advanced at 80% - almost ready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GameBoost - Integration well advanced, latest test in SBX before switching to live testing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874" name="Google Shape;874;p91"/>
          <p:cNvSpPr txBox="1"/>
          <p:nvPr/>
        </p:nvSpPr>
        <p:spPr>
          <a:xfrm>
            <a:off x="7096567" y="3549967"/>
            <a:ext cx="36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600"/>
              <a:buFont typeface="Arial"/>
              <a:buNone/>
            </a:pPr>
            <a:r>
              <a:rPr lang="en-US" sz="1500">
                <a:solidFill>
                  <a:srgbClr val="4285F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KAM + TAM Team smashing it (or fixing it)</a:t>
            </a:r>
            <a:endParaRPr sz="1500"/>
          </a:p>
        </p:txBody>
      </p:sp>
      <p:grpSp>
        <p:nvGrpSpPr>
          <p:cNvPr id="875" name="Google Shape;875;p91"/>
          <p:cNvGrpSpPr/>
          <p:nvPr/>
        </p:nvGrpSpPr>
        <p:grpSpPr>
          <a:xfrm>
            <a:off x="1570423" y="748673"/>
            <a:ext cx="144704" cy="144704"/>
            <a:chOff x="4444253" y="4002170"/>
            <a:chExt cx="95250" cy="95250"/>
          </a:xfrm>
        </p:grpSpPr>
        <p:sp>
          <p:nvSpPr>
            <p:cNvPr id="876" name="Google Shape;876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8" name="Google Shape;878;p91"/>
          <p:cNvGrpSpPr/>
          <p:nvPr/>
        </p:nvGrpSpPr>
        <p:grpSpPr>
          <a:xfrm>
            <a:off x="1586084" y="3570086"/>
            <a:ext cx="144704" cy="144704"/>
            <a:chOff x="4444253" y="4002170"/>
            <a:chExt cx="95250" cy="95250"/>
          </a:xfrm>
        </p:grpSpPr>
        <p:sp>
          <p:nvSpPr>
            <p:cNvPr id="879" name="Google Shape;879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1" name="Google Shape;881;p91"/>
          <p:cNvGrpSpPr/>
          <p:nvPr/>
        </p:nvGrpSpPr>
        <p:grpSpPr>
          <a:xfrm>
            <a:off x="6630939" y="810346"/>
            <a:ext cx="144704" cy="144704"/>
            <a:chOff x="4444253" y="4002170"/>
            <a:chExt cx="95250" cy="95250"/>
          </a:xfrm>
        </p:grpSpPr>
        <p:sp>
          <p:nvSpPr>
            <p:cNvPr id="882" name="Google Shape;882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91"/>
          <p:cNvGrpSpPr/>
          <p:nvPr/>
        </p:nvGrpSpPr>
        <p:grpSpPr>
          <a:xfrm>
            <a:off x="6787548" y="3570086"/>
            <a:ext cx="144704" cy="144704"/>
            <a:chOff x="4444253" y="4002170"/>
            <a:chExt cx="95250" cy="95250"/>
          </a:xfrm>
        </p:grpSpPr>
        <p:sp>
          <p:nvSpPr>
            <p:cNvPr id="885" name="Google Shape;885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7" name="Google Shape;887;p91"/>
          <p:cNvSpPr txBox="1"/>
          <p:nvPr/>
        </p:nvSpPr>
        <p:spPr>
          <a:xfrm>
            <a:off x="2116257" y="3958133"/>
            <a:ext cx="3945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SIGNED!!!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609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Sending to contracting - signatures expected still in March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Signature</a:t>
            </a:r>
            <a:endParaRPr b="1"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888" name="Google Shape;888;p91" title="Screenshot 2026-03-05 at 15.52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755" y="3958124"/>
            <a:ext cx="928965" cy="25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5034" y="4927900"/>
            <a:ext cx="695869" cy="214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8700" y="4157352"/>
            <a:ext cx="695869" cy="280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7800" y="4727033"/>
            <a:ext cx="1185333" cy="27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2" name="Google Shape;892;p91"/>
          <p:cNvGrpSpPr/>
          <p:nvPr/>
        </p:nvGrpSpPr>
        <p:grpSpPr>
          <a:xfrm rot="10800000">
            <a:off x="5946064" y="1833579"/>
            <a:ext cx="302336" cy="302336"/>
            <a:chOff x="5946064" y="4458625"/>
            <a:chExt cx="302336" cy="302336"/>
          </a:xfrm>
        </p:grpSpPr>
        <p:sp>
          <p:nvSpPr>
            <p:cNvPr id="893" name="Google Shape;893;p91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4" name="Google Shape;894;p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5" name="Google Shape;895;p91"/>
          <p:cNvGrpSpPr/>
          <p:nvPr/>
        </p:nvGrpSpPr>
        <p:grpSpPr>
          <a:xfrm flipH="1">
            <a:off x="5946064" y="4392371"/>
            <a:ext cx="302336" cy="302336"/>
            <a:chOff x="5946064" y="4458625"/>
            <a:chExt cx="302336" cy="302336"/>
          </a:xfrm>
        </p:grpSpPr>
        <p:sp>
          <p:nvSpPr>
            <p:cNvPr id="896" name="Google Shape;896;p91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97" name="Google Shape;897;p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98" name="Google Shape;898;p9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67214" y="1667761"/>
            <a:ext cx="695856" cy="22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9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65709" y="2111400"/>
            <a:ext cx="898857" cy="302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9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901044" y="5055133"/>
            <a:ext cx="522100" cy="5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9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67634" y="5608361"/>
            <a:ext cx="797999" cy="25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91" title="holidu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16000" y="1917522"/>
            <a:ext cx="1185333" cy="366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91" title="appercut.jpe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480295" y="2275817"/>
            <a:ext cx="356334" cy="356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91" title="boosdta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142333" y="4325417"/>
            <a:ext cx="798001" cy="4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91" title="booking.jpe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216147" y="1126270"/>
            <a:ext cx="798033" cy="2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91" title="Screenshot 2026-03-19 at 11.18.09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310517" y="2647561"/>
            <a:ext cx="695867" cy="24108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91"/>
          <p:cNvSpPr txBox="1"/>
          <p:nvPr>
            <p:ph type="title"/>
          </p:nvPr>
        </p:nvSpPr>
        <p:spPr>
          <a:xfrm>
            <a:off x="757878" y="6052525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Europe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92"/>
          <p:cNvSpPr/>
          <p:nvPr/>
        </p:nvSpPr>
        <p:spPr>
          <a:xfrm rot="-5400000">
            <a:off x="2164326" y="1897650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92"/>
          <p:cNvSpPr/>
          <p:nvPr/>
        </p:nvSpPr>
        <p:spPr>
          <a:xfrm flipH="1" rot="5400000">
            <a:off x="7444345" y="-563472"/>
            <a:ext cx="2583300" cy="5280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92"/>
          <p:cNvSpPr txBox="1"/>
          <p:nvPr>
            <p:ph type="title"/>
          </p:nvPr>
        </p:nvSpPr>
        <p:spPr>
          <a:xfrm>
            <a:off x="757878" y="6052525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MENAT</a:t>
            </a:r>
            <a:endParaRPr/>
          </a:p>
        </p:txBody>
      </p:sp>
      <p:sp>
        <p:nvSpPr>
          <p:cNvPr id="915" name="Google Shape;915;p92"/>
          <p:cNvSpPr txBox="1"/>
          <p:nvPr/>
        </p:nvSpPr>
        <p:spPr>
          <a:xfrm>
            <a:off x="7096554" y="4142045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Deals Go-live </a:t>
            </a:r>
            <a:endParaRPr/>
          </a:p>
        </p:txBody>
      </p:sp>
      <p:sp>
        <p:nvSpPr>
          <p:cNvPr id="916" name="Google Shape;916;p92"/>
          <p:cNvSpPr txBox="1"/>
          <p:nvPr/>
        </p:nvSpPr>
        <p:spPr>
          <a:xfrm>
            <a:off x="6788082" y="4456389"/>
            <a:ext cx="430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917" name="Google Shape;917;p92"/>
          <p:cNvGrpSpPr/>
          <p:nvPr/>
        </p:nvGrpSpPr>
        <p:grpSpPr>
          <a:xfrm>
            <a:off x="6787548" y="1599756"/>
            <a:ext cx="144704" cy="144704"/>
            <a:chOff x="4444253" y="4002170"/>
            <a:chExt cx="95250" cy="95250"/>
          </a:xfrm>
        </p:grpSpPr>
        <p:sp>
          <p:nvSpPr>
            <p:cNvPr id="918" name="Google Shape;918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92"/>
          <p:cNvGrpSpPr/>
          <p:nvPr/>
        </p:nvGrpSpPr>
        <p:grpSpPr>
          <a:xfrm>
            <a:off x="6787548" y="4162144"/>
            <a:ext cx="144704" cy="144704"/>
            <a:chOff x="4444253" y="4002170"/>
            <a:chExt cx="95250" cy="95250"/>
          </a:xfrm>
        </p:grpSpPr>
        <p:sp>
          <p:nvSpPr>
            <p:cNvPr id="921" name="Google Shape;921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3" name="Google Shape;923;p92"/>
          <p:cNvGrpSpPr/>
          <p:nvPr/>
        </p:nvGrpSpPr>
        <p:grpSpPr>
          <a:xfrm flipH="1">
            <a:off x="5946064" y="4392371"/>
            <a:ext cx="302336" cy="302336"/>
            <a:chOff x="5946064" y="4458625"/>
            <a:chExt cx="302336" cy="302336"/>
          </a:xfrm>
        </p:grpSpPr>
        <p:sp>
          <p:nvSpPr>
            <p:cNvPr id="924" name="Google Shape;924;p92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6" name="Google Shape;926;p92"/>
          <p:cNvGrpSpPr/>
          <p:nvPr/>
        </p:nvGrpSpPr>
        <p:grpSpPr>
          <a:xfrm rot="10800000">
            <a:off x="5946064" y="1819879"/>
            <a:ext cx="302336" cy="302336"/>
            <a:chOff x="5946064" y="4458625"/>
            <a:chExt cx="302336" cy="302336"/>
          </a:xfrm>
        </p:grpSpPr>
        <p:sp>
          <p:nvSpPr>
            <p:cNvPr id="927" name="Google Shape;927;p92"/>
            <p:cNvSpPr/>
            <p:nvPr/>
          </p:nvSpPr>
          <p:spPr>
            <a:xfrm>
              <a:off x="5974023" y="4486584"/>
              <a:ext cx="246300" cy="246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8" name="Google Shape;928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5946064" y="4458625"/>
              <a:ext cx="302336" cy="3023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9" name="Google Shape;929;p92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COMMERCIAL ORG</a:t>
            </a:r>
            <a:endParaRPr/>
          </a:p>
        </p:txBody>
      </p:sp>
      <p:sp>
        <p:nvSpPr>
          <p:cNvPr id="930" name="Google Shape;930;p92"/>
          <p:cNvSpPr txBox="1"/>
          <p:nvPr/>
        </p:nvSpPr>
        <p:spPr>
          <a:xfrm>
            <a:off x="7160952" y="404820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KAM+TAM </a:t>
            </a:r>
            <a:endParaRPr/>
          </a:p>
        </p:txBody>
      </p:sp>
      <p:pic>
        <p:nvPicPr>
          <p:cNvPr id="931" name="Google Shape;93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8394" y="771017"/>
            <a:ext cx="598665" cy="50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7449" y="1853389"/>
            <a:ext cx="1077267" cy="235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2863" y="2505487"/>
            <a:ext cx="1166400" cy="430107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92"/>
          <p:cNvSpPr txBox="1"/>
          <p:nvPr/>
        </p:nvSpPr>
        <p:spPr>
          <a:xfrm>
            <a:off x="7096550" y="1074031"/>
            <a:ext cx="4308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Preparing for MX Launch! </a:t>
            </a: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  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35" name="Google Shape;935;p92"/>
          <p:cNvSpPr txBox="1"/>
          <p:nvPr/>
        </p:nvSpPr>
        <p:spPr>
          <a:xfrm>
            <a:off x="7408125" y="1817150"/>
            <a:ext cx="385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GPay and PayTR connection pending for TR market.  Stripe SBX testing.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Tazapay connection pending - APMs </a:t>
            </a: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integration</a:t>
            </a: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. 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36" name="Google Shape;936;p92"/>
          <p:cNvSpPr txBox="1"/>
          <p:nvPr/>
        </p:nvSpPr>
        <p:spPr>
          <a:xfrm>
            <a:off x="7453925" y="2525088"/>
            <a:ext cx="31827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Working hard to meet the deadline to  go-live. (Phase1) 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937" name="Google Shape;937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4625" y="4694696"/>
            <a:ext cx="950067" cy="312800"/>
          </a:xfrm>
          <a:prstGeom prst="rect">
            <a:avLst/>
          </a:prstGeom>
          <a:noFill/>
          <a:ln cap="flat" cmpd="sng" w="12700">
            <a:solidFill>
              <a:srgbClr val="3C4BCE"/>
            </a:solidFill>
            <a:prstDash val="dash"/>
            <a:miter lim="8000"/>
            <a:headEnd len="sm" w="sm" type="none"/>
            <a:tailEnd len="sm" w="sm" type="none"/>
          </a:ln>
        </p:spPr>
      </p:pic>
      <p:sp>
        <p:nvSpPr>
          <p:cNvPr id="938" name="Google Shape;938;p92"/>
          <p:cNvSpPr txBox="1"/>
          <p:nvPr/>
        </p:nvSpPr>
        <p:spPr>
          <a:xfrm>
            <a:off x="7453925" y="4853588"/>
            <a:ext cx="385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Launched! expected to reach ~200K monthly transactions at peak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39" name="Google Shape;939;p92"/>
          <p:cNvSpPr txBox="1"/>
          <p:nvPr/>
        </p:nvSpPr>
        <p:spPr>
          <a:xfrm>
            <a:off x="1963748" y="497299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Key Winning Logos</a:t>
            </a:r>
            <a:endParaRPr/>
          </a:p>
        </p:txBody>
      </p:sp>
      <p:grpSp>
        <p:nvGrpSpPr>
          <p:cNvPr id="940" name="Google Shape;940;p92"/>
          <p:cNvGrpSpPr/>
          <p:nvPr/>
        </p:nvGrpSpPr>
        <p:grpSpPr>
          <a:xfrm>
            <a:off x="1819059" y="861081"/>
            <a:ext cx="144704" cy="144704"/>
            <a:chOff x="4444253" y="4002170"/>
            <a:chExt cx="95250" cy="95250"/>
          </a:xfrm>
        </p:grpSpPr>
        <p:sp>
          <p:nvSpPr>
            <p:cNvPr id="941" name="Google Shape;941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43" name="Google Shape;943;p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7125" y="1066739"/>
            <a:ext cx="712551" cy="236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-Futtaim Group - Wikipedia" id="944" name="Google Shape;944;p9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11850" y="2301802"/>
            <a:ext cx="807950" cy="43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endyol Vector Logo Download (SVG) — Pixelbag Free Design ..." id="945" name="Google Shape;945;p9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24149" y="2363778"/>
            <a:ext cx="950075" cy="314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9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54100" y="794174"/>
            <a:ext cx="1348514" cy="60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9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374188" y="1398275"/>
            <a:ext cx="1166400" cy="30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9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367775" y="1852475"/>
            <a:ext cx="1077275" cy="411430"/>
          </a:xfrm>
          <a:prstGeom prst="rect">
            <a:avLst/>
          </a:prstGeom>
          <a:solidFill>
            <a:srgbClr val="FCFCFF"/>
          </a:solidFill>
          <a:ln cap="flat" cmpd="sng" w="9525">
            <a:solidFill>
              <a:srgbClr val="EEEEEE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949" name="Google Shape;949;p9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89475" y="1664522"/>
            <a:ext cx="1077275" cy="337544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92"/>
          <p:cNvSpPr txBox="1"/>
          <p:nvPr/>
        </p:nvSpPr>
        <p:spPr>
          <a:xfrm>
            <a:off x="1819048" y="1070613"/>
            <a:ext cx="107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rPr lang="en-US" sz="1000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RFP inclusion’ NDA signed</a:t>
            </a:r>
            <a:endParaRPr sz="1000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t/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1" name="Google Shape;951;p92"/>
          <p:cNvSpPr txBox="1"/>
          <p:nvPr/>
        </p:nvSpPr>
        <p:spPr>
          <a:xfrm>
            <a:off x="4717788" y="2439700"/>
            <a:ext cx="95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RFP inclusion; NDA signed</a:t>
            </a:r>
            <a:endParaRPr b="0" i="0" sz="1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2" name="Google Shape;952;p92"/>
          <p:cNvSpPr txBox="1"/>
          <p:nvPr/>
        </p:nvSpPr>
        <p:spPr>
          <a:xfrm>
            <a:off x="1963750" y="2416112"/>
            <a:ext cx="950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RFP inclusion; NDA signed</a:t>
            </a:r>
            <a:endParaRPr b="0" i="0" sz="1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3" name="Google Shape;953;p92"/>
          <p:cNvSpPr txBox="1"/>
          <p:nvPr/>
        </p:nvSpPr>
        <p:spPr>
          <a:xfrm>
            <a:off x="4760404" y="926892"/>
            <a:ext cx="825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Demo / POC scoping</a:t>
            </a:r>
            <a:endParaRPr b="0" i="0" sz="1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4" name="Google Shape;954;p92"/>
          <p:cNvSpPr txBox="1"/>
          <p:nvPr/>
        </p:nvSpPr>
        <p:spPr>
          <a:xfrm>
            <a:off x="4782916" y="1438042"/>
            <a:ext cx="8253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Negotiation </a:t>
            </a:r>
            <a:endParaRPr i="1" sz="1000"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t/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5" name="Google Shape;955;p92"/>
          <p:cNvSpPr txBox="1"/>
          <p:nvPr/>
        </p:nvSpPr>
        <p:spPr>
          <a:xfrm>
            <a:off x="4760400" y="1949189"/>
            <a:ext cx="8703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tillium Web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Negotiation </a:t>
            </a:r>
            <a:endParaRPr b="0" i="1" sz="1000" u="none" cap="none" strike="noStrike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6" name="Google Shape;956;p92"/>
          <p:cNvSpPr txBox="1"/>
          <p:nvPr/>
        </p:nvSpPr>
        <p:spPr>
          <a:xfrm>
            <a:off x="1946216" y="1655499"/>
            <a:ext cx="134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000">
                <a:latin typeface="Titillium Web"/>
                <a:ea typeface="Titillium Web"/>
                <a:cs typeface="Titillium Web"/>
                <a:sym typeface="Titillium Web"/>
              </a:rPr>
              <a:t>Project kicked off/ Agreement</a:t>
            </a:r>
            <a:endParaRPr sz="10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57" name="Google Shape;957;p92"/>
          <p:cNvSpPr txBox="1"/>
          <p:nvPr/>
        </p:nvSpPr>
        <p:spPr>
          <a:xfrm>
            <a:off x="1866752" y="3517095"/>
            <a:ext cx="219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New Opportunities </a:t>
            </a:r>
            <a:endParaRPr/>
          </a:p>
        </p:txBody>
      </p:sp>
      <p:grpSp>
        <p:nvGrpSpPr>
          <p:cNvPr id="958" name="Google Shape;958;p92"/>
          <p:cNvGrpSpPr/>
          <p:nvPr/>
        </p:nvGrpSpPr>
        <p:grpSpPr>
          <a:xfrm>
            <a:off x="1574984" y="3763469"/>
            <a:ext cx="144704" cy="144704"/>
            <a:chOff x="4444253" y="4002170"/>
            <a:chExt cx="95250" cy="95250"/>
          </a:xfrm>
        </p:grpSpPr>
        <p:sp>
          <p:nvSpPr>
            <p:cNvPr id="959" name="Google Shape;959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92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61" name="Google Shape;961;p9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574971" y="4178540"/>
            <a:ext cx="1077300" cy="71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9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071525" y="3952500"/>
            <a:ext cx="1605775" cy="411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786550" y="4878037"/>
            <a:ext cx="1605776" cy="660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93"/>
          <p:cNvSpPr txBox="1"/>
          <p:nvPr>
            <p:ph type="title"/>
          </p:nvPr>
        </p:nvSpPr>
        <p:spPr>
          <a:xfrm>
            <a:off x="757875" y="4257200"/>
            <a:ext cx="43020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PARTNERSHIPS</a:t>
            </a:r>
            <a:endParaRPr/>
          </a:p>
        </p:txBody>
      </p:sp>
      <p:sp>
        <p:nvSpPr>
          <p:cNvPr id="969" name="Google Shape;969;p93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08:29 - 08:34</a:t>
            </a:r>
            <a:endParaRPr sz="3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94"/>
          <p:cNvSpPr txBox="1"/>
          <p:nvPr>
            <p:ph idx="1" type="body"/>
          </p:nvPr>
        </p:nvSpPr>
        <p:spPr>
          <a:xfrm>
            <a:off x="1010491" y="82486"/>
            <a:ext cx="572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Partnerships</a:t>
            </a:r>
            <a:endParaRPr/>
          </a:p>
        </p:txBody>
      </p:sp>
      <p:sp>
        <p:nvSpPr>
          <p:cNvPr id="975" name="Google Shape;975;p94"/>
          <p:cNvSpPr txBox="1"/>
          <p:nvPr>
            <p:ph type="title"/>
          </p:nvPr>
        </p:nvSpPr>
        <p:spPr>
          <a:xfrm>
            <a:off x="1010504" y="8070033"/>
            <a:ext cx="1455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>
                <a:solidFill>
                  <a:srgbClr val="3F4FE0"/>
                </a:solidFill>
              </a:rPr>
              <a:t>Our Growing Network</a:t>
            </a:r>
            <a:endParaRPr>
              <a:solidFill>
                <a:srgbClr val="3F4FE0"/>
              </a:solidFill>
            </a:endParaRPr>
          </a:p>
        </p:txBody>
      </p:sp>
      <p:sp>
        <p:nvSpPr>
          <p:cNvPr id="976" name="Google Shape;976;p94"/>
          <p:cNvSpPr/>
          <p:nvPr/>
        </p:nvSpPr>
        <p:spPr>
          <a:xfrm>
            <a:off x="831900" y="1223567"/>
            <a:ext cx="2343300" cy="1255200"/>
          </a:xfrm>
          <a:prstGeom prst="roundRect">
            <a:avLst>
              <a:gd fmla="val 16667" name="adj"/>
            </a:avLst>
          </a:prstGeom>
          <a:solidFill>
            <a:srgbClr val="3744B0"/>
          </a:solidFill>
          <a:ln cap="flat" cmpd="sng" w="12700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388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</a:rPr>
              <a:t>Total Partners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977" name="Google Shape;977;p94"/>
          <p:cNvSpPr/>
          <p:nvPr/>
        </p:nvSpPr>
        <p:spPr>
          <a:xfrm>
            <a:off x="831900" y="4259173"/>
            <a:ext cx="2343300" cy="1255200"/>
          </a:xfrm>
          <a:prstGeom prst="roundRect">
            <a:avLst>
              <a:gd fmla="val 16667" name="adj"/>
            </a:avLst>
          </a:prstGeom>
          <a:solidFill>
            <a:srgbClr val="3744B0"/>
          </a:solidFill>
          <a:ln cap="flat" cmpd="sng" w="12700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76</a:t>
            </a:r>
            <a:endParaRPr b="1" sz="1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LIVE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78" name="Google Shape;978;p94"/>
          <p:cNvSpPr/>
          <p:nvPr/>
        </p:nvSpPr>
        <p:spPr>
          <a:xfrm>
            <a:off x="831900" y="2741370"/>
            <a:ext cx="2343300" cy="1255200"/>
          </a:xfrm>
          <a:prstGeom prst="roundRect">
            <a:avLst>
              <a:gd fmla="val 16667" name="adj"/>
            </a:avLst>
          </a:prstGeom>
          <a:solidFill>
            <a:srgbClr val="3744B0"/>
          </a:solidFill>
          <a:ln cap="flat" cmpd="sng" w="12700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700">
                <a:solidFill>
                  <a:schemeClr val="lt1"/>
                </a:solidFill>
              </a:rPr>
            </a:br>
            <a:r>
              <a:rPr b="1" lang="en-US" sz="1700">
                <a:solidFill>
                  <a:schemeClr val="lt1"/>
                </a:solidFill>
              </a:rPr>
              <a:t>+114 in current negotiation (38 strategic)</a:t>
            </a:r>
            <a:br>
              <a:rPr b="1" lang="en-US" sz="1700">
                <a:solidFill>
                  <a:schemeClr val="lt1"/>
                </a:solidFill>
              </a:rPr>
            </a:br>
            <a:endParaRPr b="1" i="1" sz="1200">
              <a:solidFill>
                <a:schemeClr val="lt1"/>
              </a:solidFill>
            </a:endParaRPr>
          </a:p>
        </p:txBody>
      </p:sp>
      <p:pic>
        <p:nvPicPr>
          <p:cNvPr id="979" name="Google Shape;979;p9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9333" y="950682"/>
            <a:ext cx="7624263" cy="4720802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94"/>
          <p:cNvSpPr txBox="1"/>
          <p:nvPr/>
        </p:nvSpPr>
        <p:spPr>
          <a:xfrm>
            <a:off x="3113833" y="4587650"/>
            <a:ext cx="679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4A854"/>
                </a:solidFill>
              </a:rPr>
              <a:t>+10</a:t>
            </a:r>
            <a:endParaRPr b="1" sz="1600">
              <a:solidFill>
                <a:srgbClr val="34A854"/>
              </a:solidFill>
            </a:endParaRPr>
          </a:p>
        </p:txBody>
      </p:sp>
      <p:sp>
        <p:nvSpPr>
          <p:cNvPr id="981" name="Google Shape;981;p94"/>
          <p:cNvSpPr txBox="1"/>
          <p:nvPr/>
        </p:nvSpPr>
        <p:spPr>
          <a:xfrm>
            <a:off x="3202433" y="3122767"/>
            <a:ext cx="679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4A854"/>
                </a:solidFill>
              </a:rPr>
              <a:t>+4</a:t>
            </a:r>
            <a:endParaRPr b="1" sz="1600">
              <a:solidFill>
                <a:srgbClr val="34A854"/>
              </a:solidFill>
            </a:endParaRPr>
          </a:p>
        </p:txBody>
      </p:sp>
      <p:sp>
        <p:nvSpPr>
          <p:cNvPr id="982" name="Google Shape;982;p94"/>
          <p:cNvSpPr txBox="1"/>
          <p:nvPr/>
        </p:nvSpPr>
        <p:spPr>
          <a:xfrm>
            <a:off x="3144029" y="1554850"/>
            <a:ext cx="679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4A854"/>
                </a:solidFill>
              </a:rPr>
              <a:t>+4</a:t>
            </a:r>
            <a:endParaRPr b="1" sz="1600">
              <a:solidFill>
                <a:srgbClr val="34A854"/>
              </a:solidFill>
            </a:endParaRPr>
          </a:p>
        </p:txBody>
      </p:sp>
      <p:sp>
        <p:nvSpPr>
          <p:cNvPr id="983" name="Google Shape;983;p94"/>
          <p:cNvSpPr txBox="1"/>
          <p:nvPr>
            <p:ph type="title"/>
          </p:nvPr>
        </p:nvSpPr>
        <p:spPr>
          <a:xfrm>
            <a:off x="922553" y="282382"/>
            <a:ext cx="1091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 sz="2800"/>
              <a:t>Partnerships Monthly Overview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95"/>
          <p:cNvSpPr txBox="1"/>
          <p:nvPr>
            <p:ph type="title"/>
          </p:nvPr>
        </p:nvSpPr>
        <p:spPr>
          <a:xfrm>
            <a:off x="757878" y="390252"/>
            <a:ext cx="1091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 sz="2800"/>
              <a:t>Partnerships Weekly Highlights</a:t>
            </a:r>
            <a:endParaRPr sz="2800"/>
          </a:p>
        </p:txBody>
      </p:sp>
      <p:sp>
        <p:nvSpPr>
          <p:cNvPr id="989" name="Google Shape;989;p95"/>
          <p:cNvSpPr txBox="1"/>
          <p:nvPr>
            <p:ph idx="1" type="body"/>
          </p:nvPr>
        </p:nvSpPr>
        <p:spPr>
          <a:xfrm>
            <a:off x="757887" y="158581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Partnerships</a:t>
            </a:r>
            <a:endParaRPr/>
          </a:p>
        </p:txBody>
      </p:sp>
      <p:graphicFrame>
        <p:nvGraphicFramePr>
          <p:cNvPr id="990" name="Google Shape;990;p95"/>
          <p:cNvGraphicFramePr/>
          <p:nvPr/>
        </p:nvGraphicFramePr>
        <p:xfrm>
          <a:off x="515909" y="13249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{00EE9726-6C4F-4318-AD9E-1C56E25DB3F7}</a:tableStyleId>
              </a:tblPr>
              <a:tblGrid>
                <a:gridCol w="2298825"/>
                <a:gridCol w="2298825"/>
                <a:gridCol w="2298825"/>
                <a:gridCol w="2298825"/>
                <a:gridCol w="2298825"/>
              </a:tblGrid>
              <a:tr h="509000"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500">
                          <a:solidFill>
                            <a:schemeClr val="accent2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Partnership Pipeline- Key Deals Overview 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  <a:tc hMerge="1"/>
                <a:tc hMerge="1"/>
                <a:tc hMerge="1"/>
                <a:tc hMerge="1"/>
              </a:tr>
              <a:tr h="5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Global</a:t>
                      </a:r>
                      <a:endParaRPr sz="15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Americas (LATAM &amp; NA)</a:t>
                      </a:r>
                      <a:endParaRPr b="1" sz="11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EU</a:t>
                      </a:r>
                      <a:endParaRPr sz="15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MENAT</a:t>
                      </a:r>
                      <a:endParaRPr sz="15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APAC</a:t>
                      </a:r>
                      <a:endParaRPr sz="15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</a:tr>
              <a:tr h="6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Adyen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Partner Manager Assigned 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Davivienda/Rappi (DSE)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Paycomet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</a:t>
                      </a:r>
                      <a:endParaRPr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Thawani Pay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 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Xendit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 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Visa - Strategic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In Negotiation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Crypto.com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Payaza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</a:t>
                      </a:r>
                      <a:endParaRPr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PayTR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</a:t>
                      </a:r>
                      <a:endParaRPr sz="1900"/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Antom+2C2P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Close to being signed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27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Merchant Deals Supported</a:t>
                      </a:r>
                      <a:endParaRPr b="1" sz="13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A"/>
                    </a:solidFill>
                  </a:tcPr>
                </a:tc>
                <a:tc hMerge="1"/>
                <a:tc hMerge="1"/>
                <a:tc hMerge="1"/>
                <a:tc hMerge="1"/>
              </a:tr>
              <a:tr h="6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Space x—&gt; multiple acquirers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Copa Airlines/ NA→ North 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Amex—&gt; Mexico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Wix → Mapping providers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Pegasus →Mapping Providers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Soulchill→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Tripla →  KCP &amp; Hecto Financial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Qatar Airlines—&gt;Amex, MPGS etc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Whoosh → Brazil , CL</a:t>
                      </a:r>
                      <a:b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</a:b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Motiva → BR 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Fever → Toss Payments, PhonePe, PayPhone, Paystack, KCP, Shift4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Trip → Price Negotiation</a:t>
                      </a:r>
                      <a:endParaRPr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Hello Clever →  Hitpay &amp; Fiuu</a:t>
                      </a:r>
                      <a:endParaRPr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 anchor="ctr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1" name="Google Shape;991;p95"/>
          <p:cNvSpPr/>
          <p:nvPr/>
        </p:nvSpPr>
        <p:spPr>
          <a:xfrm>
            <a:off x="724633" y="6570984"/>
            <a:ext cx="196500" cy="207300"/>
          </a:xfrm>
          <a:prstGeom prst="ellipse">
            <a:avLst/>
          </a:prstGeom>
          <a:solidFill>
            <a:srgbClr val="B6D7A8"/>
          </a:solidFill>
          <a:ln cap="flat" cmpd="sng" w="12700">
            <a:solidFill>
              <a:srgbClr val="93C3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2" name="Google Shape;992;p95"/>
          <p:cNvSpPr txBox="1"/>
          <p:nvPr/>
        </p:nvSpPr>
        <p:spPr>
          <a:xfrm>
            <a:off x="876249" y="6483411"/>
            <a:ext cx="19983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tillium Web"/>
                <a:ea typeface="Titillium Web"/>
                <a:cs typeface="Titillium Web"/>
                <a:sym typeface="Titillium Web"/>
              </a:rPr>
              <a:t>Ahead of the Curve</a:t>
            </a:r>
            <a:endParaRPr sz="1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3" name="Google Shape;993;p95"/>
          <p:cNvSpPr/>
          <p:nvPr/>
        </p:nvSpPr>
        <p:spPr>
          <a:xfrm>
            <a:off x="2925746" y="6586090"/>
            <a:ext cx="196500" cy="207300"/>
          </a:xfrm>
          <a:prstGeom prst="ellipse">
            <a:avLst/>
          </a:prstGeom>
          <a:solidFill>
            <a:srgbClr val="8E7CC3"/>
          </a:solidFill>
          <a:ln cap="flat" cmpd="sng" w="1270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4" name="Google Shape;994;p95"/>
          <p:cNvSpPr txBox="1"/>
          <p:nvPr/>
        </p:nvSpPr>
        <p:spPr>
          <a:xfrm>
            <a:off x="3065006" y="6480349"/>
            <a:ext cx="19983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tillium Web"/>
                <a:ea typeface="Titillium Web"/>
                <a:cs typeface="Titillium Web"/>
                <a:sym typeface="Titillium Web"/>
              </a:rPr>
              <a:t>Must-Have/Popular</a:t>
            </a:r>
            <a:endParaRPr sz="1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5" name="Google Shape;995;p95"/>
          <p:cNvSpPr/>
          <p:nvPr/>
        </p:nvSpPr>
        <p:spPr>
          <a:xfrm>
            <a:off x="4930606" y="6570984"/>
            <a:ext cx="196500" cy="207300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6" name="Google Shape;996;p95"/>
          <p:cNvSpPr txBox="1"/>
          <p:nvPr/>
        </p:nvSpPr>
        <p:spPr>
          <a:xfrm>
            <a:off x="5072493" y="6468299"/>
            <a:ext cx="19983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tillium Web"/>
                <a:ea typeface="Titillium Web"/>
                <a:cs typeface="Titillium Web"/>
                <a:sym typeface="Titillium Web"/>
              </a:rPr>
              <a:t>Merchant Opportunity</a:t>
            </a:r>
            <a:endParaRPr sz="1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7" name="Google Shape;997;p95"/>
          <p:cNvSpPr/>
          <p:nvPr/>
        </p:nvSpPr>
        <p:spPr>
          <a:xfrm>
            <a:off x="6913380" y="6570984"/>
            <a:ext cx="196500" cy="207300"/>
          </a:xfrm>
          <a:prstGeom prst="ellipse">
            <a:avLst/>
          </a:prstGeom>
          <a:solidFill>
            <a:srgbClr val="3C4BCE"/>
          </a:solidFill>
          <a:ln cap="flat" cmpd="sng" w="12700">
            <a:solidFill>
              <a:srgbClr val="1D2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8" name="Google Shape;998;p95"/>
          <p:cNvSpPr txBox="1"/>
          <p:nvPr/>
        </p:nvSpPr>
        <p:spPr>
          <a:xfrm>
            <a:off x="7026115" y="6483427"/>
            <a:ext cx="19983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tillium Web"/>
                <a:ea typeface="Titillium Web"/>
                <a:cs typeface="Titillium Web"/>
                <a:sym typeface="Titillium Web"/>
              </a:rPr>
              <a:t>Innovator/Influencer</a:t>
            </a:r>
            <a:endParaRPr sz="12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999" name="Google Shape;999;p95"/>
          <p:cNvSpPr/>
          <p:nvPr/>
        </p:nvSpPr>
        <p:spPr>
          <a:xfrm>
            <a:off x="2506300" y="2421225"/>
            <a:ext cx="196500" cy="207300"/>
          </a:xfrm>
          <a:prstGeom prst="ellipse">
            <a:avLst/>
          </a:prstGeom>
          <a:solidFill>
            <a:srgbClr val="8E7CC3"/>
          </a:solidFill>
          <a:ln cap="flat" cmpd="sng" w="1270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0" name="Google Shape;1000;p95"/>
          <p:cNvSpPr/>
          <p:nvPr/>
        </p:nvSpPr>
        <p:spPr>
          <a:xfrm>
            <a:off x="576390" y="6413854"/>
            <a:ext cx="8157300" cy="430800"/>
          </a:xfrm>
          <a:prstGeom prst="rect">
            <a:avLst/>
          </a:prstGeom>
          <a:noFill/>
          <a:ln cap="flat" cmpd="sng" w="12700">
            <a:solidFill>
              <a:srgbClr val="C5C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1" name="Google Shape;1001;p95"/>
          <p:cNvSpPr/>
          <p:nvPr/>
        </p:nvSpPr>
        <p:spPr>
          <a:xfrm>
            <a:off x="4837071" y="3086524"/>
            <a:ext cx="196500" cy="207300"/>
          </a:xfrm>
          <a:prstGeom prst="ellipse">
            <a:avLst/>
          </a:prstGeom>
          <a:solidFill>
            <a:srgbClr val="B6D7A8"/>
          </a:solidFill>
          <a:ln cap="flat" cmpd="sng" w="12700">
            <a:solidFill>
              <a:srgbClr val="93C3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2" name="Google Shape;1002;p95"/>
          <p:cNvSpPr/>
          <p:nvPr/>
        </p:nvSpPr>
        <p:spPr>
          <a:xfrm>
            <a:off x="7129499" y="2421252"/>
            <a:ext cx="196500" cy="207300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3" name="Google Shape;1003;p95"/>
          <p:cNvSpPr/>
          <p:nvPr/>
        </p:nvSpPr>
        <p:spPr>
          <a:xfrm>
            <a:off x="7137633" y="3071392"/>
            <a:ext cx="196500" cy="207300"/>
          </a:xfrm>
          <a:prstGeom prst="ellipse">
            <a:avLst/>
          </a:prstGeom>
          <a:solidFill>
            <a:srgbClr val="8E7CC3"/>
          </a:solidFill>
          <a:ln cap="flat" cmpd="sng" w="1270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4" name="Google Shape;1004;p95"/>
          <p:cNvSpPr/>
          <p:nvPr/>
        </p:nvSpPr>
        <p:spPr>
          <a:xfrm>
            <a:off x="11782910" y="2421252"/>
            <a:ext cx="196500" cy="207300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5" name="Google Shape;1005;p95"/>
          <p:cNvSpPr/>
          <p:nvPr/>
        </p:nvSpPr>
        <p:spPr>
          <a:xfrm>
            <a:off x="2506300" y="3146920"/>
            <a:ext cx="196500" cy="2073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6" name="Google Shape;1006;p95"/>
          <p:cNvSpPr/>
          <p:nvPr/>
        </p:nvSpPr>
        <p:spPr>
          <a:xfrm>
            <a:off x="9458112" y="2421252"/>
            <a:ext cx="196500" cy="207300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7" name="Google Shape;1007;p95"/>
          <p:cNvSpPr/>
          <p:nvPr/>
        </p:nvSpPr>
        <p:spPr>
          <a:xfrm>
            <a:off x="9458112" y="3071392"/>
            <a:ext cx="196500" cy="207300"/>
          </a:xfrm>
          <a:prstGeom prst="ellipse">
            <a:avLst/>
          </a:prstGeom>
          <a:solidFill>
            <a:srgbClr val="FFD966"/>
          </a:solidFill>
          <a:ln cap="flat" cmpd="sng" w="12700">
            <a:solidFill>
              <a:srgbClr val="FFE5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8" name="Google Shape;1008;p95"/>
          <p:cNvSpPr/>
          <p:nvPr/>
        </p:nvSpPr>
        <p:spPr>
          <a:xfrm>
            <a:off x="4817900" y="2421225"/>
            <a:ext cx="196500" cy="207300"/>
          </a:xfrm>
          <a:prstGeom prst="ellipse">
            <a:avLst/>
          </a:prstGeom>
          <a:solidFill>
            <a:srgbClr val="8E7CC3"/>
          </a:solidFill>
          <a:ln cap="flat" cmpd="sng" w="1270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09" name="Google Shape;1009;p95"/>
          <p:cNvSpPr/>
          <p:nvPr/>
        </p:nvSpPr>
        <p:spPr>
          <a:xfrm>
            <a:off x="11778579" y="3074361"/>
            <a:ext cx="196500" cy="207300"/>
          </a:xfrm>
          <a:prstGeom prst="ellipse">
            <a:avLst/>
          </a:prstGeom>
          <a:solidFill>
            <a:srgbClr val="8E7CC3"/>
          </a:solidFill>
          <a:ln cap="flat" cmpd="sng" w="12700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6"/>
          <p:cNvSpPr txBox="1"/>
          <p:nvPr>
            <p:ph type="title"/>
          </p:nvPr>
        </p:nvSpPr>
        <p:spPr>
          <a:xfrm>
            <a:off x="568408" y="439969"/>
            <a:ext cx="81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>
                <a:solidFill>
                  <a:srgbClr val="3F4FE0"/>
                </a:solidFill>
              </a:rPr>
              <a:t>Events Pipeline</a:t>
            </a:r>
            <a:endParaRPr>
              <a:solidFill>
                <a:srgbClr val="3F4FE0"/>
              </a:solidFill>
            </a:endParaRPr>
          </a:p>
        </p:txBody>
      </p:sp>
      <p:sp>
        <p:nvSpPr>
          <p:cNvPr id="1015" name="Google Shape;1015;p96"/>
          <p:cNvSpPr txBox="1"/>
          <p:nvPr>
            <p:ph idx="1" type="body"/>
          </p:nvPr>
        </p:nvSpPr>
        <p:spPr>
          <a:xfrm>
            <a:off x="568415" y="220900"/>
            <a:ext cx="321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Partnerships </a:t>
            </a:r>
            <a:endParaRPr/>
          </a:p>
        </p:txBody>
      </p:sp>
      <p:sp>
        <p:nvSpPr>
          <p:cNvPr id="1016" name="Google Shape;1016;p96"/>
          <p:cNvSpPr/>
          <p:nvPr/>
        </p:nvSpPr>
        <p:spPr>
          <a:xfrm>
            <a:off x="567307" y="940140"/>
            <a:ext cx="7315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Upcoming Partner Events — Q1/Q2 2026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7" name="Google Shape;1017;p96"/>
          <p:cNvCxnSpPr/>
          <p:nvPr/>
        </p:nvCxnSpPr>
        <p:spPr>
          <a:xfrm>
            <a:off x="1449345" y="1922573"/>
            <a:ext cx="9021900" cy="0"/>
          </a:xfrm>
          <a:prstGeom prst="straightConnector1">
            <a:avLst/>
          </a:prstGeom>
          <a:noFill/>
          <a:ln cap="flat" cmpd="sng" w="25400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18" name="Google Shape;1018;p96"/>
          <p:cNvSpPr/>
          <p:nvPr/>
        </p:nvSpPr>
        <p:spPr>
          <a:xfrm>
            <a:off x="583713" y="2349293"/>
            <a:ext cx="1731300" cy="3474900"/>
          </a:xfrm>
          <a:prstGeom prst="rect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96"/>
          <p:cNvSpPr/>
          <p:nvPr/>
        </p:nvSpPr>
        <p:spPr>
          <a:xfrm>
            <a:off x="583713" y="2349293"/>
            <a:ext cx="67200" cy="3474900"/>
          </a:xfrm>
          <a:prstGeom prst="rect">
            <a:avLst/>
          </a:prstGeom>
          <a:solidFill>
            <a:srgbClr val="3F4FE0"/>
          </a:solidFill>
          <a:ln cap="flat" cmpd="sng" w="169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96"/>
          <p:cNvSpPr/>
          <p:nvPr/>
        </p:nvSpPr>
        <p:spPr>
          <a:xfrm>
            <a:off x="1327425" y="1800653"/>
            <a:ext cx="243900" cy="243900"/>
          </a:xfrm>
          <a:prstGeom prst="ellipse">
            <a:avLst/>
          </a:prstGeom>
          <a:solidFill>
            <a:srgbClr val="3F4FE0"/>
          </a:solidFill>
          <a:ln cap="flat" cmpd="sng" w="16925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1" name="Google Shape;1021;p96"/>
          <p:cNvCxnSpPr/>
          <p:nvPr/>
        </p:nvCxnSpPr>
        <p:spPr>
          <a:xfrm>
            <a:off x="1449345" y="2044493"/>
            <a:ext cx="0" cy="304800"/>
          </a:xfrm>
          <a:prstGeom prst="straightConnector1">
            <a:avLst/>
          </a:prstGeom>
          <a:noFill/>
          <a:ln cap="flat" cmpd="sng" w="16925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22" name="Google Shape;1022;p96"/>
          <p:cNvSpPr/>
          <p:nvPr/>
        </p:nvSpPr>
        <p:spPr>
          <a:xfrm>
            <a:off x="730017" y="2568749"/>
            <a:ext cx="1072800" cy="365700"/>
          </a:xfrm>
          <a:prstGeom prst="rect">
            <a:avLst/>
          </a:prstGeom>
          <a:solidFill>
            <a:srgbClr val="00E5A0"/>
          </a:solidFill>
          <a:ln cap="flat" cmpd="sng" w="169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96"/>
          <p:cNvSpPr/>
          <p:nvPr/>
        </p:nvSpPr>
        <p:spPr>
          <a:xfrm>
            <a:off x="730017" y="2568749"/>
            <a:ext cx="1072800" cy="365700"/>
          </a:xfrm>
          <a:prstGeom prst="rect">
            <a:avLst/>
          </a:prstGeom>
          <a:solidFill>
            <a:srgbClr val="D6DAFA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03/26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96"/>
          <p:cNvSpPr/>
          <p:nvPr/>
        </p:nvSpPr>
        <p:spPr>
          <a:xfrm>
            <a:off x="730017" y="3141773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Nuvei</a:t>
            </a:r>
            <a:endParaRPr b="0" i="0" sz="19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96"/>
          <p:cNvSpPr/>
          <p:nvPr/>
        </p:nvSpPr>
        <p:spPr>
          <a:xfrm>
            <a:off x="730017" y="3836717"/>
            <a:ext cx="536400" cy="29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96"/>
          <p:cNvSpPr/>
          <p:nvPr/>
        </p:nvSpPr>
        <p:spPr>
          <a:xfrm>
            <a:off x="730017" y="3836717"/>
            <a:ext cx="536400" cy="292800"/>
          </a:xfrm>
          <a:prstGeom prst="rect">
            <a:avLst/>
          </a:prstGeom>
          <a:solidFill>
            <a:srgbClr val="FFDA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96"/>
          <p:cNvSpPr/>
          <p:nvPr/>
        </p:nvSpPr>
        <p:spPr>
          <a:xfrm>
            <a:off x="2388129" y="2349293"/>
            <a:ext cx="1731300" cy="3474900"/>
          </a:xfrm>
          <a:prstGeom prst="rect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96"/>
          <p:cNvSpPr/>
          <p:nvPr/>
        </p:nvSpPr>
        <p:spPr>
          <a:xfrm>
            <a:off x="2388129" y="2349293"/>
            <a:ext cx="67200" cy="3474900"/>
          </a:xfrm>
          <a:prstGeom prst="rect">
            <a:avLst/>
          </a:prstGeom>
          <a:solidFill>
            <a:srgbClr val="3F4FE0"/>
          </a:solidFill>
          <a:ln cap="flat" cmpd="sng" w="169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96"/>
          <p:cNvSpPr/>
          <p:nvPr/>
        </p:nvSpPr>
        <p:spPr>
          <a:xfrm>
            <a:off x="3131841" y="1800653"/>
            <a:ext cx="243900" cy="243900"/>
          </a:xfrm>
          <a:prstGeom prst="ellipse">
            <a:avLst/>
          </a:prstGeom>
          <a:solidFill>
            <a:srgbClr val="3F4FE0"/>
          </a:solidFill>
          <a:ln cap="flat" cmpd="sng" w="16925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0" name="Google Shape;1030;p96"/>
          <p:cNvCxnSpPr/>
          <p:nvPr/>
        </p:nvCxnSpPr>
        <p:spPr>
          <a:xfrm>
            <a:off x="3253761" y="2044493"/>
            <a:ext cx="0" cy="304800"/>
          </a:xfrm>
          <a:prstGeom prst="straightConnector1">
            <a:avLst/>
          </a:prstGeom>
          <a:noFill/>
          <a:ln cap="flat" cmpd="sng" w="16925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1" name="Google Shape;1031;p96"/>
          <p:cNvSpPr/>
          <p:nvPr/>
        </p:nvSpPr>
        <p:spPr>
          <a:xfrm>
            <a:off x="2534433" y="2568749"/>
            <a:ext cx="1072800" cy="365700"/>
          </a:xfrm>
          <a:prstGeom prst="rect">
            <a:avLst/>
          </a:prstGeom>
          <a:solidFill>
            <a:srgbClr val="00E5A0"/>
          </a:solidFill>
          <a:ln cap="flat" cmpd="sng" w="169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96"/>
          <p:cNvSpPr/>
          <p:nvPr/>
        </p:nvSpPr>
        <p:spPr>
          <a:xfrm>
            <a:off x="2534433" y="2568749"/>
            <a:ext cx="1072800" cy="365700"/>
          </a:xfrm>
          <a:prstGeom prst="rect">
            <a:avLst/>
          </a:prstGeom>
          <a:solidFill>
            <a:srgbClr val="D6DAFA"/>
          </a:solidFill>
          <a:ln cap="flat" cmpd="sng" w="12700">
            <a:solidFill>
              <a:srgbClr val="D6D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B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B0B"/>
                </a:solidFill>
                <a:latin typeface="Calibri"/>
                <a:ea typeface="Calibri"/>
                <a:cs typeface="Calibri"/>
                <a:sym typeface="Calibri"/>
              </a:rPr>
              <a:t>04/09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96"/>
          <p:cNvSpPr/>
          <p:nvPr/>
        </p:nvSpPr>
        <p:spPr>
          <a:xfrm>
            <a:off x="2534433" y="3141773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Getnet</a:t>
            </a:r>
            <a:endParaRPr b="0" i="0" sz="19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96"/>
          <p:cNvSpPr/>
          <p:nvPr/>
        </p:nvSpPr>
        <p:spPr>
          <a:xfrm>
            <a:off x="2534433" y="3836717"/>
            <a:ext cx="536400" cy="29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96"/>
          <p:cNvSpPr/>
          <p:nvPr/>
        </p:nvSpPr>
        <p:spPr>
          <a:xfrm>
            <a:off x="2534433" y="3836717"/>
            <a:ext cx="536400" cy="292800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96"/>
          <p:cNvSpPr/>
          <p:nvPr/>
        </p:nvSpPr>
        <p:spPr>
          <a:xfrm>
            <a:off x="2534433" y="4300013"/>
            <a:ext cx="148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E-commerce Day Chile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96"/>
          <p:cNvSpPr/>
          <p:nvPr/>
        </p:nvSpPr>
        <p:spPr>
          <a:xfrm>
            <a:off x="4192545" y="2349293"/>
            <a:ext cx="1731300" cy="3474900"/>
          </a:xfrm>
          <a:prstGeom prst="rect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96"/>
          <p:cNvSpPr/>
          <p:nvPr/>
        </p:nvSpPr>
        <p:spPr>
          <a:xfrm>
            <a:off x="4192545" y="2349293"/>
            <a:ext cx="67200" cy="3474900"/>
          </a:xfrm>
          <a:prstGeom prst="rect">
            <a:avLst/>
          </a:prstGeom>
          <a:solidFill>
            <a:srgbClr val="3F4FE0"/>
          </a:solidFill>
          <a:ln cap="flat" cmpd="sng" w="169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96"/>
          <p:cNvSpPr/>
          <p:nvPr/>
        </p:nvSpPr>
        <p:spPr>
          <a:xfrm>
            <a:off x="4936257" y="1800653"/>
            <a:ext cx="243900" cy="243900"/>
          </a:xfrm>
          <a:prstGeom prst="ellipse">
            <a:avLst/>
          </a:prstGeom>
          <a:solidFill>
            <a:srgbClr val="3F4FE0"/>
          </a:solidFill>
          <a:ln cap="flat" cmpd="sng" w="16925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0" name="Google Shape;1040;p96"/>
          <p:cNvCxnSpPr/>
          <p:nvPr/>
        </p:nvCxnSpPr>
        <p:spPr>
          <a:xfrm>
            <a:off x="5058177" y="2044493"/>
            <a:ext cx="0" cy="304800"/>
          </a:xfrm>
          <a:prstGeom prst="straightConnector1">
            <a:avLst/>
          </a:prstGeom>
          <a:noFill/>
          <a:ln cap="flat" cmpd="sng" w="16925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41" name="Google Shape;1041;p96"/>
          <p:cNvSpPr/>
          <p:nvPr/>
        </p:nvSpPr>
        <p:spPr>
          <a:xfrm>
            <a:off x="4338849" y="2568749"/>
            <a:ext cx="1072800" cy="365700"/>
          </a:xfrm>
          <a:prstGeom prst="rect">
            <a:avLst/>
          </a:prstGeom>
          <a:solidFill>
            <a:srgbClr val="00E5A0"/>
          </a:solidFill>
          <a:ln cap="flat" cmpd="sng" w="169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96"/>
          <p:cNvSpPr/>
          <p:nvPr/>
        </p:nvSpPr>
        <p:spPr>
          <a:xfrm>
            <a:off x="4338849" y="2568749"/>
            <a:ext cx="1072800" cy="365700"/>
          </a:xfrm>
          <a:prstGeom prst="rect">
            <a:avLst/>
          </a:prstGeom>
          <a:solidFill>
            <a:srgbClr val="D6DAFA"/>
          </a:solidFill>
          <a:ln cap="flat" cmpd="sng" w="12700">
            <a:solidFill>
              <a:srgbClr val="D6D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B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B0B"/>
                </a:solidFill>
                <a:latin typeface="Calibri"/>
                <a:ea typeface="Calibri"/>
                <a:cs typeface="Calibri"/>
                <a:sym typeface="Calibri"/>
              </a:rPr>
              <a:t>04/13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96"/>
          <p:cNvSpPr/>
          <p:nvPr/>
        </p:nvSpPr>
        <p:spPr>
          <a:xfrm>
            <a:off x="4338849" y="3141773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Riskified</a:t>
            </a:r>
            <a:endParaRPr b="0" i="0" sz="19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96"/>
          <p:cNvSpPr/>
          <p:nvPr/>
        </p:nvSpPr>
        <p:spPr>
          <a:xfrm>
            <a:off x="4338849" y="4300013"/>
            <a:ext cx="148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MRC London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96"/>
          <p:cNvSpPr/>
          <p:nvPr/>
        </p:nvSpPr>
        <p:spPr>
          <a:xfrm>
            <a:off x="5996961" y="2349293"/>
            <a:ext cx="1731300" cy="3474900"/>
          </a:xfrm>
          <a:prstGeom prst="rect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96"/>
          <p:cNvSpPr/>
          <p:nvPr/>
        </p:nvSpPr>
        <p:spPr>
          <a:xfrm>
            <a:off x="5996961" y="2349293"/>
            <a:ext cx="67200" cy="3474900"/>
          </a:xfrm>
          <a:prstGeom prst="rect">
            <a:avLst/>
          </a:prstGeom>
          <a:solidFill>
            <a:srgbClr val="3F4FE0"/>
          </a:solidFill>
          <a:ln cap="flat" cmpd="sng" w="169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96"/>
          <p:cNvSpPr/>
          <p:nvPr/>
        </p:nvSpPr>
        <p:spPr>
          <a:xfrm>
            <a:off x="6740673" y="1800653"/>
            <a:ext cx="243900" cy="243900"/>
          </a:xfrm>
          <a:prstGeom prst="ellipse">
            <a:avLst/>
          </a:prstGeom>
          <a:solidFill>
            <a:srgbClr val="3F4FE0"/>
          </a:solidFill>
          <a:ln cap="flat" cmpd="sng" w="16925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8" name="Google Shape;1048;p96"/>
          <p:cNvCxnSpPr/>
          <p:nvPr/>
        </p:nvCxnSpPr>
        <p:spPr>
          <a:xfrm>
            <a:off x="6862593" y="2044493"/>
            <a:ext cx="0" cy="304800"/>
          </a:xfrm>
          <a:prstGeom prst="straightConnector1">
            <a:avLst/>
          </a:prstGeom>
          <a:noFill/>
          <a:ln cap="flat" cmpd="sng" w="16925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49" name="Google Shape;1049;p96"/>
          <p:cNvSpPr/>
          <p:nvPr/>
        </p:nvSpPr>
        <p:spPr>
          <a:xfrm>
            <a:off x="6143265" y="2568749"/>
            <a:ext cx="1072800" cy="365700"/>
          </a:xfrm>
          <a:prstGeom prst="rect">
            <a:avLst/>
          </a:prstGeom>
          <a:solidFill>
            <a:srgbClr val="00E5A0"/>
          </a:solidFill>
          <a:ln cap="flat" cmpd="sng" w="169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96"/>
          <p:cNvSpPr/>
          <p:nvPr/>
        </p:nvSpPr>
        <p:spPr>
          <a:xfrm>
            <a:off x="6143265" y="2568749"/>
            <a:ext cx="1072800" cy="365700"/>
          </a:xfrm>
          <a:prstGeom prst="rect">
            <a:avLst/>
          </a:prstGeom>
          <a:solidFill>
            <a:srgbClr val="D6DAFA"/>
          </a:solidFill>
          <a:ln cap="flat" cmpd="sng" w="12700">
            <a:solidFill>
              <a:srgbClr val="D6D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B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B0B"/>
                </a:solidFill>
                <a:latin typeface="Calibri"/>
                <a:ea typeface="Calibri"/>
                <a:cs typeface="Calibri"/>
                <a:sym typeface="Calibri"/>
              </a:rPr>
              <a:t>04/15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96"/>
          <p:cNvSpPr/>
          <p:nvPr/>
        </p:nvSpPr>
        <p:spPr>
          <a:xfrm>
            <a:off x="6143265" y="3141773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Itaú</a:t>
            </a:r>
            <a:endParaRPr b="0" i="0" sz="19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96"/>
          <p:cNvSpPr/>
          <p:nvPr/>
        </p:nvSpPr>
        <p:spPr>
          <a:xfrm>
            <a:off x="6143265" y="3836717"/>
            <a:ext cx="536400" cy="29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96"/>
          <p:cNvSpPr/>
          <p:nvPr/>
        </p:nvSpPr>
        <p:spPr>
          <a:xfrm>
            <a:off x="6143265" y="3836717"/>
            <a:ext cx="536400" cy="292800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96"/>
          <p:cNvSpPr/>
          <p:nvPr/>
        </p:nvSpPr>
        <p:spPr>
          <a:xfrm>
            <a:off x="6143265" y="4300013"/>
            <a:ext cx="148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Coffee Break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96"/>
          <p:cNvSpPr/>
          <p:nvPr/>
        </p:nvSpPr>
        <p:spPr>
          <a:xfrm>
            <a:off x="7801377" y="2349293"/>
            <a:ext cx="1731300" cy="3474900"/>
          </a:xfrm>
          <a:prstGeom prst="rect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96"/>
          <p:cNvSpPr/>
          <p:nvPr/>
        </p:nvSpPr>
        <p:spPr>
          <a:xfrm>
            <a:off x="7801377" y="2349293"/>
            <a:ext cx="67200" cy="3474900"/>
          </a:xfrm>
          <a:prstGeom prst="rect">
            <a:avLst/>
          </a:prstGeom>
          <a:solidFill>
            <a:srgbClr val="3F4FE0"/>
          </a:solidFill>
          <a:ln cap="flat" cmpd="sng" w="169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96"/>
          <p:cNvSpPr/>
          <p:nvPr/>
        </p:nvSpPr>
        <p:spPr>
          <a:xfrm>
            <a:off x="8545089" y="1800653"/>
            <a:ext cx="243900" cy="243900"/>
          </a:xfrm>
          <a:prstGeom prst="ellipse">
            <a:avLst/>
          </a:prstGeom>
          <a:solidFill>
            <a:srgbClr val="3F4FE0"/>
          </a:solidFill>
          <a:ln cap="flat" cmpd="sng" w="16925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8" name="Google Shape;1058;p96"/>
          <p:cNvCxnSpPr/>
          <p:nvPr/>
        </p:nvCxnSpPr>
        <p:spPr>
          <a:xfrm>
            <a:off x="8667009" y="2044493"/>
            <a:ext cx="0" cy="304800"/>
          </a:xfrm>
          <a:prstGeom prst="straightConnector1">
            <a:avLst/>
          </a:prstGeom>
          <a:noFill/>
          <a:ln cap="flat" cmpd="sng" w="16925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59" name="Google Shape;1059;p96"/>
          <p:cNvSpPr/>
          <p:nvPr/>
        </p:nvSpPr>
        <p:spPr>
          <a:xfrm>
            <a:off x="7947681" y="2568749"/>
            <a:ext cx="1072800" cy="365700"/>
          </a:xfrm>
          <a:prstGeom prst="rect">
            <a:avLst/>
          </a:prstGeom>
          <a:solidFill>
            <a:srgbClr val="00E5A0"/>
          </a:solidFill>
          <a:ln cap="flat" cmpd="sng" w="169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96"/>
          <p:cNvSpPr/>
          <p:nvPr/>
        </p:nvSpPr>
        <p:spPr>
          <a:xfrm>
            <a:off x="7947681" y="2568749"/>
            <a:ext cx="1072800" cy="365700"/>
          </a:xfrm>
          <a:prstGeom prst="rect">
            <a:avLst/>
          </a:prstGeom>
          <a:solidFill>
            <a:srgbClr val="D6DAFA"/>
          </a:solidFill>
          <a:ln cap="flat" cmpd="sng" w="12700">
            <a:solidFill>
              <a:srgbClr val="D6D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B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B0B"/>
                </a:solidFill>
                <a:latin typeface="Calibri"/>
                <a:ea typeface="Calibri"/>
                <a:cs typeface="Calibri"/>
                <a:sym typeface="Calibri"/>
              </a:rPr>
              <a:t>04/16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96"/>
          <p:cNvSpPr/>
          <p:nvPr/>
        </p:nvSpPr>
        <p:spPr>
          <a:xfrm>
            <a:off x="7947681" y="3141773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Clearsale</a:t>
            </a:r>
            <a:endParaRPr b="0" i="0" sz="19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96"/>
          <p:cNvSpPr/>
          <p:nvPr/>
        </p:nvSpPr>
        <p:spPr>
          <a:xfrm>
            <a:off x="7947681" y="3836717"/>
            <a:ext cx="536400" cy="29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96"/>
          <p:cNvSpPr/>
          <p:nvPr/>
        </p:nvSpPr>
        <p:spPr>
          <a:xfrm>
            <a:off x="7947681" y="3836717"/>
            <a:ext cx="536400" cy="292800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96"/>
          <p:cNvSpPr/>
          <p:nvPr/>
        </p:nvSpPr>
        <p:spPr>
          <a:xfrm>
            <a:off x="7947681" y="4300013"/>
            <a:ext cx="148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VTEX Day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96"/>
          <p:cNvSpPr/>
          <p:nvPr/>
        </p:nvSpPr>
        <p:spPr>
          <a:xfrm>
            <a:off x="9605793" y="2349293"/>
            <a:ext cx="1731300" cy="3474900"/>
          </a:xfrm>
          <a:prstGeom prst="rect">
            <a:avLst/>
          </a:prstGeom>
          <a:noFill/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8100000" dist="50800">
              <a:srgbClr val="000000">
                <a:alpha val="4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96"/>
          <p:cNvSpPr/>
          <p:nvPr/>
        </p:nvSpPr>
        <p:spPr>
          <a:xfrm>
            <a:off x="9605793" y="2349293"/>
            <a:ext cx="67200" cy="3474900"/>
          </a:xfrm>
          <a:prstGeom prst="rect">
            <a:avLst/>
          </a:prstGeom>
          <a:solidFill>
            <a:srgbClr val="3F4FE0"/>
          </a:solidFill>
          <a:ln cap="flat" cmpd="sng" w="169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96"/>
          <p:cNvSpPr/>
          <p:nvPr/>
        </p:nvSpPr>
        <p:spPr>
          <a:xfrm>
            <a:off x="10349505" y="1800653"/>
            <a:ext cx="243900" cy="243900"/>
          </a:xfrm>
          <a:prstGeom prst="ellipse">
            <a:avLst/>
          </a:prstGeom>
          <a:solidFill>
            <a:srgbClr val="3F4FE0"/>
          </a:solidFill>
          <a:ln cap="flat" cmpd="sng" w="16925">
            <a:solidFill>
              <a:srgbClr val="3F4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8" name="Google Shape;1068;p96"/>
          <p:cNvCxnSpPr/>
          <p:nvPr/>
        </p:nvCxnSpPr>
        <p:spPr>
          <a:xfrm>
            <a:off x="10471425" y="2044493"/>
            <a:ext cx="0" cy="304800"/>
          </a:xfrm>
          <a:prstGeom prst="straightConnector1">
            <a:avLst/>
          </a:prstGeom>
          <a:noFill/>
          <a:ln cap="flat" cmpd="sng" w="16925">
            <a:solidFill>
              <a:srgbClr val="2A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69" name="Google Shape;1069;p96"/>
          <p:cNvSpPr/>
          <p:nvPr/>
        </p:nvSpPr>
        <p:spPr>
          <a:xfrm>
            <a:off x="9752097" y="2568749"/>
            <a:ext cx="1072800" cy="365700"/>
          </a:xfrm>
          <a:prstGeom prst="rect">
            <a:avLst/>
          </a:prstGeom>
          <a:solidFill>
            <a:srgbClr val="00E5A0"/>
          </a:solidFill>
          <a:ln cap="flat" cmpd="sng" w="16925">
            <a:solidFill>
              <a:srgbClr val="00E5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96"/>
          <p:cNvSpPr/>
          <p:nvPr/>
        </p:nvSpPr>
        <p:spPr>
          <a:xfrm>
            <a:off x="9752097" y="2568749"/>
            <a:ext cx="1072800" cy="365700"/>
          </a:xfrm>
          <a:prstGeom prst="rect">
            <a:avLst/>
          </a:prstGeom>
          <a:solidFill>
            <a:srgbClr val="D6DAFA"/>
          </a:solidFill>
          <a:ln cap="flat" cmpd="sng" w="12700">
            <a:solidFill>
              <a:srgbClr val="D6D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0B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0B0B"/>
                </a:solidFill>
                <a:latin typeface="Calibri"/>
                <a:ea typeface="Calibri"/>
                <a:cs typeface="Calibri"/>
                <a:sym typeface="Calibri"/>
              </a:rPr>
              <a:t>05/07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96"/>
          <p:cNvSpPr/>
          <p:nvPr/>
        </p:nvSpPr>
        <p:spPr>
          <a:xfrm>
            <a:off x="9752097" y="3141773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Koin</a:t>
            </a:r>
            <a:endParaRPr b="0" i="0" sz="19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96"/>
          <p:cNvSpPr/>
          <p:nvPr/>
        </p:nvSpPr>
        <p:spPr>
          <a:xfrm>
            <a:off x="9752097" y="3836717"/>
            <a:ext cx="536400" cy="2928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96"/>
          <p:cNvSpPr/>
          <p:nvPr/>
        </p:nvSpPr>
        <p:spPr>
          <a:xfrm>
            <a:off x="9752097" y="3836717"/>
            <a:ext cx="536400" cy="292800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96"/>
          <p:cNvSpPr/>
          <p:nvPr/>
        </p:nvSpPr>
        <p:spPr>
          <a:xfrm>
            <a:off x="9752097" y="4300013"/>
            <a:ext cx="148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E-commerce Day Colombia</a:t>
            </a:r>
            <a:endParaRPr b="1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96"/>
          <p:cNvSpPr/>
          <p:nvPr/>
        </p:nvSpPr>
        <p:spPr>
          <a:xfrm>
            <a:off x="4338851" y="3879268"/>
            <a:ext cx="536400" cy="292800"/>
          </a:xfrm>
          <a:prstGeom prst="rect">
            <a:avLst/>
          </a:prstGeom>
          <a:solidFill>
            <a:srgbClr val="FFD9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96"/>
          <p:cNvSpPr/>
          <p:nvPr/>
        </p:nvSpPr>
        <p:spPr>
          <a:xfrm>
            <a:off x="743505" y="4300007"/>
            <a:ext cx="148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TrustDecision</a:t>
            </a:r>
            <a:endParaRPr b="1" sz="12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2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MasterCard</a:t>
            </a:r>
            <a:endParaRPr b="1" i="0" sz="12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96"/>
          <p:cNvSpPr/>
          <p:nvPr/>
        </p:nvSpPr>
        <p:spPr>
          <a:xfrm>
            <a:off x="730017" y="5080051"/>
            <a:ext cx="536400" cy="292800"/>
          </a:xfrm>
          <a:prstGeom prst="rect">
            <a:avLst/>
          </a:prstGeom>
          <a:solidFill>
            <a:srgbClr val="FFDA6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5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8" name="Google Shape;107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417" y="3836717"/>
            <a:ext cx="439200" cy="2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0833" y="3836717"/>
            <a:ext cx="439200" cy="2928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0" name="Google Shape;1080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5251" y="3879268"/>
            <a:ext cx="439200" cy="2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9665" y="3836717"/>
            <a:ext cx="439200" cy="2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24081" y="3836717"/>
            <a:ext cx="439200" cy="2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28497" y="3836717"/>
            <a:ext cx="439200" cy="29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9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06417" y="5080051"/>
            <a:ext cx="439200" cy="2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97"/>
          <p:cNvSpPr txBox="1"/>
          <p:nvPr>
            <p:ph type="title"/>
          </p:nvPr>
        </p:nvSpPr>
        <p:spPr>
          <a:xfrm>
            <a:off x="568408" y="439969"/>
            <a:ext cx="818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Useful Material/ Team Initiatives</a:t>
            </a:r>
            <a:endParaRPr/>
          </a:p>
        </p:txBody>
      </p:sp>
      <p:sp>
        <p:nvSpPr>
          <p:cNvPr id="1090" name="Google Shape;1090;p97"/>
          <p:cNvSpPr txBox="1"/>
          <p:nvPr>
            <p:ph idx="1" type="body"/>
          </p:nvPr>
        </p:nvSpPr>
        <p:spPr>
          <a:xfrm>
            <a:off x="568415" y="220900"/>
            <a:ext cx="321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Partnerships </a:t>
            </a:r>
            <a:endParaRPr/>
          </a:p>
        </p:txBody>
      </p:sp>
      <p:sp>
        <p:nvSpPr>
          <p:cNvPr id="1091" name="Google Shape;1091;p97"/>
          <p:cNvSpPr/>
          <p:nvPr/>
        </p:nvSpPr>
        <p:spPr>
          <a:xfrm>
            <a:off x="757879" y="2543195"/>
            <a:ext cx="10840500" cy="1091700"/>
          </a:xfrm>
          <a:prstGeom prst="roundRect">
            <a:avLst>
              <a:gd fmla="val 8176" name="adj"/>
            </a:avLst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97"/>
          <p:cNvSpPr/>
          <p:nvPr/>
        </p:nvSpPr>
        <p:spPr>
          <a:xfrm>
            <a:off x="747481" y="2973593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19997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97"/>
          <p:cNvSpPr/>
          <p:nvPr/>
        </p:nvSpPr>
        <p:spPr>
          <a:xfrm>
            <a:off x="11380563" y="2863001"/>
            <a:ext cx="452100" cy="45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094" name="Google Shape;1094;p97"/>
          <p:cNvSpPr txBox="1"/>
          <p:nvPr/>
        </p:nvSpPr>
        <p:spPr>
          <a:xfrm>
            <a:off x="1191637" y="2758133"/>
            <a:ext cx="3007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Partner Portal- Coming Soon</a:t>
            </a:r>
            <a:endParaRPr sz="1500"/>
          </a:p>
        </p:txBody>
      </p:sp>
      <p:sp>
        <p:nvSpPr>
          <p:cNvPr id="1095" name="Google Shape;1095;p97"/>
          <p:cNvSpPr txBox="1"/>
          <p:nvPr/>
        </p:nvSpPr>
        <p:spPr>
          <a:xfrm>
            <a:off x="1191624" y="3080336"/>
            <a:ext cx="1000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Phase I: </a:t>
            </a: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Internal, one stop shop for all info relating to partners 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Phase II: External, partner user-level access</a:t>
            </a:r>
            <a:endParaRPr sz="1100">
              <a:solidFill>
                <a:schemeClr val="dk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96" name="Google Shape;1096;p97"/>
          <p:cNvSpPr/>
          <p:nvPr/>
        </p:nvSpPr>
        <p:spPr>
          <a:xfrm>
            <a:off x="11511168" y="2993153"/>
            <a:ext cx="190738" cy="191640"/>
          </a:xfrm>
          <a:custGeom>
            <a:rect b="b" l="l" r="r" t="t"/>
            <a:pathLst>
              <a:path extrusionOk="0" h="880" w="880">
                <a:moveTo>
                  <a:pt x="880" y="440"/>
                </a:moveTo>
                <a:cubicBezTo>
                  <a:pt x="880" y="683"/>
                  <a:pt x="683" y="880"/>
                  <a:pt x="440" y="880"/>
                </a:cubicBezTo>
                <a:cubicBezTo>
                  <a:pt x="197" y="880"/>
                  <a:pt x="0" y="683"/>
                  <a:pt x="0" y="440"/>
                </a:cubicBezTo>
                <a:cubicBezTo>
                  <a:pt x="0" y="197"/>
                  <a:pt x="197" y="0"/>
                  <a:pt x="440" y="0"/>
                </a:cubicBezTo>
                <a:cubicBezTo>
                  <a:pt x="683" y="0"/>
                  <a:pt x="880" y="197"/>
                  <a:pt x="880" y="440"/>
                </a:cubicBezTo>
                <a:close/>
                <a:moveTo>
                  <a:pt x="835" y="633"/>
                </a:moveTo>
                <a:cubicBezTo>
                  <a:pt x="720" y="592"/>
                  <a:pt x="585" y="568"/>
                  <a:pt x="440" y="568"/>
                </a:cubicBezTo>
                <a:cubicBezTo>
                  <a:pt x="295" y="568"/>
                  <a:pt x="159" y="592"/>
                  <a:pt x="44" y="632"/>
                </a:cubicBezTo>
                <a:moveTo>
                  <a:pt x="44" y="248"/>
                </a:moveTo>
                <a:cubicBezTo>
                  <a:pt x="159" y="289"/>
                  <a:pt x="295" y="312"/>
                  <a:pt x="440" y="312"/>
                </a:cubicBezTo>
                <a:cubicBezTo>
                  <a:pt x="585" y="312"/>
                  <a:pt x="720" y="289"/>
                  <a:pt x="835" y="248"/>
                </a:cubicBezTo>
                <a:moveTo>
                  <a:pt x="440" y="0"/>
                </a:moveTo>
                <a:cubicBezTo>
                  <a:pt x="361" y="0"/>
                  <a:pt x="297" y="197"/>
                  <a:pt x="297" y="440"/>
                </a:cubicBezTo>
                <a:cubicBezTo>
                  <a:pt x="297" y="683"/>
                  <a:pt x="361" y="880"/>
                  <a:pt x="440" y="880"/>
                </a:cubicBezTo>
                <a:cubicBezTo>
                  <a:pt x="518" y="880"/>
                  <a:pt x="582" y="683"/>
                  <a:pt x="582" y="440"/>
                </a:cubicBezTo>
                <a:cubicBezTo>
                  <a:pt x="582" y="197"/>
                  <a:pt x="518" y="0"/>
                  <a:pt x="440" y="0"/>
                </a:cubicBezTo>
                <a:close/>
              </a:path>
            </a:pathLst>
          </a:custGeom>
          <a:noFill/>
          <a:ln cap="rnd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  <p:sp>
        <p:nvSpPr>
          <p:cNvPr id="1097" name="Google Shape;1097;p97"/>
          <p:cNvSpPr/>
          <p:nvPr/>
        </p:nvSpPr>
        <p:spPr>
          <a:xfrm>
            <a:off x="757879" y="1218263"/>
            <a:ext cx="10840500" cy="1091700"/>
          </a:xfrm>
          <a:prstGeom prst="roundRect">
            <a:avLst>
              <a:gd fmla="val 8176" name="adj"/>
            </a:avLst>
          </a:prstGeom>
          <a:noFill/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97"/>
          <p:cNvSpPr/>
          <p:nvPr/>
        </p:nvSpPr>
        <p:spPr>
          <a:xfrm>
            <a:off x="747481" y="1648661"/>
            <a:ext cx="18000" cy="18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90791" sx="111980" rotWithShape="0" algn="ctr" dir="10619997" dist="1899" sy="111980">
              <a:schemeClr val="accent1">
                <a:alpha val="5137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97"/>
          <p:cNvSpPr/>
          <p:nvPr/>
        </p:nvSpPr>
        <p:spPr>
          <a:xfrm>
            <a:off x="11380563" y="1538069"/>
            <a:ext cx="452100" cy="45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100" name="Google Shape;1100;p97"/>
          <p:cNvSpPr txBox="1"/>
          <p:nvPr/>
        </p:nvSpPr>
        <p:spPr>
          <a:xfrm>
            <a:off x="1191638" y="1433233"/>
            <a:ext cx="309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accen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MENAT Insights Guide - Available</a:t>
            </a:r>
            <a:endParaRPr sz="1500"/>
          </a:p>
        </p:txBody>
      </p:sp>
      <p:sp>
        <p:nvSpPr>
          <p:cNvPr id="1101" name="Google Shape;1101;p97"/>
          <p:cNvSpPr txBox="1"/>
          <p:nvPr/>
        </p:nvSpPr>
        <p:spPr>
          <a:xfrm>
            <a:off x="1191624" y="1755404"/>
            <a:ext cx="1000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None/>
            </a:pPr>
            <a:r>
              <a:rPr lang="en-US" sz="1100">
                <a:solidFill>
                  <a:schemeClr val="dk2"/>
                </a:solidFill>
                <a:latin typeface="Titillium Web"/>
                <a:ea typeface="Titillium Web"/>
                <a:cs typeface="Titillium Web"/>
                <a:sym typeface="Titillium Web"/>
              </a:rPr>
              <a:t>Recently released guide for Commercial Teams to Guide Merchants interested in expanding in MENAT Region </a:t>
            </a:r>
            <a:endParaRPr sz="1500"/>
          </a:p>
        </p:txBody>
      </p:sp>
      <p:sp>
        <p:nvSpPr>
          <p:cNvPr id="1102" name="Google Shape;1102;p97"/>
          <p:cNvSpPr/>
          <p:nvPr/>
        </p:nvSpPr>
        <p:spPr>
          <a:xfrm>
            <a:off x="11511168" y="1668221"/>
            <a:ext cx="190738" cy="191640"/>
          </a:xfrm>
          <a:custGeom>
            <a:rect b="b" l="l" r="r" t="t"/>
            <a:pathLst>
              <a:path extrusionOk="0" h="880" w="880">
                <a:moveTo>
                  <a:pt x="880" y="440"/>
                </a:moveTo>
                <a:cubicBezTo>
                  <a:pt x="880" y="683"/>
                  <a:pt x="683" y="880"/>
                  <a:pt x="440" y="880"/>
                </a:cubicBezTo>
                <a:cubicBezTo>
                  <a:pt x="197" y="880"/>
                  <a:pt x="0" y="683"/>
                  <a:pt x="0" y="440"/>
                </a:cubicBezTo>
                <a:cubicBezTo>
                  <a:pt x="0" y="197"/>
                  <a:pt x="197" y="0"/>
                  <a:pt x="440" y="0"/>
                </a:cubicBezTo>
                <a:cubicBezTo>
                  <a:pt x="683" y="0"/>
                  <a:pt x="880" y="197"/>
                  <a:pt x="880" y="440"/>
                </a:cubicBezTo>
                <a:close/>
                <a:moveTo>
                  <a:pt x="835" y="633"/>
                </a:moveTo>
                <a:cubicBezTo>
                  <a:pt x="720" y="592"/>
                  <a:pt x="585" y="568"/>
                  <a:pt x="440" y="568"/>
                </a:cubicBezTo>
                <a:cubicBezTo>
                  <a:pt x="295" y="568"/>
                  <a:pt x="159" y="592"/>
                  <a:pt x="44" y="632"/>
                </a:cubicBezTo>
                <a:moveTo>
                  <a:pt x="44" y="248"/>
                </a:moveTo>
                <a:cubicBezTo>
                  <a:pt x="159" y="289"/>
                  <a:pt x="295" y="312"/>
                  <a:pt x="440" y="312"/>
                </a:cubicBezTo>
                <a:cubicBezTo>
                  <a:pt x="585" y="312"/>
                  <a:pt x="720" y="289"/>
                  <a:pt x="835" y="248"/>
                </a:cubicBezTo>
                <a:moveTo>
                  <a:pt x="440" y="0"/>
                </a:moveTo>
                <a:cubicBezTo>
                  <a:pt x="361" y="0"/>
                  <a:pt x="297" y="197"/>
                  <a:pt x="297" y="440"/>
                </a:cubicBezTo>
                <a:cubicBezTo>
                  <a:pt x="297" y="683"/>
                  <a:pt x="361" y="880"/>
                  <a:pt x="440" y="880"/>
                </a:cubicBezTo>
                <a:cubicBezTo>
                  <a:pt x="518" y="880"/>
                  <a:pt x="582" y="683"/>
                  <a:pt x="582" y="440"/>
                </a:cubicBezTo>
                <a:cubicBezTo>
                  <a:pt x="582" y="197"/>
                  <a:pt x="518" y="0"/>
                  <a:pt x="440" y="0"/>
                </a:cubicBezTo>
                <a:close/>
              </a:path>
            </a:pathLst>
          </a:custGeom>
          <a:noFill/>
          <a:ln cap="rnd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Titillium Web Light"/>
              <a:ea typeface="Titillium Web Light"/>
              <a:cs typeface="Titillium Web Light"/>
              <a:sym typeface="Titillium Web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98"/>
          <p:cNvSpPr txBox="1"/>
          <p:nvPr>
            <p:ph type="title"/>
          </p:nvPr>
        </p:nvSpPr>
        <p:spPr>
          <a:xfrm>
            <a:off x="757875" y="4257200"/>
            <a:ext cx="15567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SDR</a:t>
            </a:r>
            <a:endParaRPr/>
          </a:p>
        </p:txBody>
      </p:sp>
      <p:sp>
        <p:nvSpPr>
          <p:cNvPr id="1108" name="Google Shape;1108;p98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08:35 - 08:39</a:t>
            </a:r>
            <a:endParaRPr sz="3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9"/>
          <p:cNvSpPr/>
          <p:nvPr/>
        </p:nvSpPr>
        <p:spPr>
          <a:xfrm>
            <a:off x="1163400" y="1125925"/>
            <a:ext cx="5139000" cy="5002800"/>
          </a:xfrm>
          <a:prstGeom prst="rect">
            <a:avLst/>
          </a:prstGeom>
          <a:noFill/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114" name="Google Shape;111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525" y="1153450"/>
            <a:ext cx="1696875" cy="88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99"/>
          <p:cNvSpPr/>
          <p:nvPr/>
        </p:nvSpPr>
        <p:spPr>
          <a:xfrm>
            <a:off x="6557875" y="4630383"/>
            <a:ext cx="5139000" cy="1498200"/>
          </a:xfrm>
          <a:prstGeom prst="rect">
            <a:avLst/>
          </a:prstGeom>
          <a:noFill/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99"/>
          <p:cNvSpPr txBox="1"/>
          <p:nvPr>
            <p:ph type="title"/>
          </p:nvPr>
        </p:nvSpPr>
        <p:spPr>
          <a:xfrm>
            <a:off x="757878" y="6128725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SDR Update</a:t>
            </a:r>
            <a:endParaRPr/>
          </a:p>
        </p:txBody>
      </p:sp>
      <p:sp>
        <p:nvSpPr>
          <p:cNvPr id="1117" name="Google Shape;1117;p99"/>
          <p:cNvSpPr/>
          <p:nvPr/>
        </p:nvSpPr>
        <p:spPr>
          <a:xfrm>
            <a:off x="6557875" y="1125925"/>
            <a:ext cx="5139000" cy="2872200"/>
          </a:xfrm>
          <a:prstGeom prst="rect">
            <a:avLst/>
          </a:prstGeom>
          <a:noFill/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99"/>
          <p:cNvSpPr/>
          <p:nvPr/>
        </p:nvSpPr>
        <p:spPr>
          <a:xfrm>
            <a:off x="1163400" y="557272"/>
            <a:ext cx="5139000" cy="565200"/>
          </a:xfrm>
          <a:prstGeom prst="rect">
            <a:avLst/>
          </a:prstGeom>
          <a:solidFill>
            <a:srgbClr val="3E4FE0"/>
          </a:solidFill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Confirmed Logos this week</a:t>
            </a:r>
            <a:endParaRPr b="1" i="0" sz="1400" u="none" cap="none" strike="noStrike">
              <a:solidFill>
                <a:srgbClr val="FFFFFF"/>
              </a:solidFill>
            </a:endParaRPr>
          </a:p>
        </p:txBody>
      </p:sp>
      <p:sp>
        <p:nvSpPr>
          <p:cNvPr id="1119" name="Google Shape;1119;p99"/>
          <p:cNvSpPr/>
          <p:nvPr/>
        </p:nvSpPr>
        <p:spPr>
          <a:xfrm>
            <a:off x="6557875" y="557275"/>
            <a:ext cx="5139000" cy="565200"/>
          </a:xfrm>
          <a:prstGeom prst="rect">
            <a:avLst/>
          </a:prstGeom>
          <a:solidFill>
            <a:srgbClr val="3E4FE0"/>
          </a:solidFill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SQLs TBC in March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99"/>
          <p:cNvSpPr txBox="1"/>
          <p:nvPr/>
        </p:nvSpPr>
        <p:spPr>
          <a:xfrm>
            <a:off x="6730275" y="1200425"/>
            <a:ext cx="477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Next week</a:t>
            </a:r>
            <a:endParaRPr/>
          </a:p>
        </p:txBody>
      </p:sp>
      <p:pic>
        <p:nvPicPr>
          <p:cNvPr id="1121" name="Google Shape;112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525" y="2611025"/>
            <a:ext cx="1383318" cy="9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0600" y="3411950"/>
            <a:ext cx="452475" cy="427292"/>
          </a:xfrm>
          <a:prstGeom prst="rect">
            <a:avLst/>
          </a:prstGeom>
          <a:noFill/>
          <a:ln>
            <a:noFill/>
          </a:ln>
          <a:effectLst>
            <a:outerShdw blurRad="86558" rotWithShape="0" algn="bl" dir="5400000" dist="28853">
              <a:srgbClr val="000000">
                <a:alpha val="50000"/>
              </a:srgbClr>
            </a:outerShdw>
          </a:effectLst>
        </p:spPr>
      </p:pic>
      <p:pic>
        <p:nvPicPr>
          <p:cNvPr id="1123" name="Google Shape;1123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5224" y="1415830"/>
            <a:ext cx="1510475" cy="361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72063" y="1899434"/>
            <a:ext cx="395275" cy="39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87575" y="1730075"/>
            <a:ext cx="1696865" cy="6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9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79888" y="2266512"/>
            <a:ext cx="452525" cy="45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9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62292" y="1773888"/>
            <a:ext cx="133654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9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11575" y="2266503"/>
            <a:ext cx="385900" cy="3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3675" y="1957877"/>
            <a:ext cx="452525" cy="427339"/>
          </a:xfrm>
          <a:prstGeom prst="rect">
            <a:avLst/>
          </a:prstGeom>
          <a:noFill/>
          <a:ln>
            <a:noFill/>
          </a:ln>
          <a:effectLst>
            <a:outerShdw blurRad="86558" rotWithShape="0" algn="bl" dir="5400000" dist="28853">
              <a:srgbClr val="000000">
                <a:alpha val="50000"/>
              </a:srgbClr>
            </a:outerShdw>
          </a:effectLst>
        </p:spPr>
      </p:pic>
      <p:pic>
        <p:nvPicPr>
          <p:cNvPr id="1130" name="Google Shape;1130;p9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58325" y="4550725"/>
            <a:ext cx="953175" cy="479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8650" y="5021452"/>
            <a:ext cx="452525" cy="427339"/>
          </a:xfrm>
          <a:prstGeom prst="rect">
            <a:avLst/>
          </a:prstGeom>
          <a:noFill/>
          <a:ln>
            <a:noFill/>
          </a:ln>
          <a:effectLst>
            <a:outerShdw blurRad="86558" rotWithShape="0" algn="bl" dir="5400000" dist="28853">
              <a:srgbClr val="000000">
                <a:alpha val="50000"/>
              </a:srgbClr>
            </a:outerShdw>
          </a:effectLst>
        </p:spPr>
      </p:pic>
      <p:pic>
        <p:nvPicPr>
          <p:cNvPr id="1132" name="Google Shape;1132;p9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28543" y="4337356"/>
            <a:ext cx="998675" cy="9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9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31950" y="5140541"/>
            <a:ext cx="385900" cy="3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9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249600" y="4967450"/>
            <a:ext cx="950124" cy="21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9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815900" y="7050028"/>
            <a:ext cx="385900" cy="3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9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906516" y="4794111"/>
            <a:ext cx="817100" cy="668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9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813960" y="7034054"/>
            <a:ext cx="385900" cy="385900"/>
          </a:xfrm>
          <a:prstGeom prst="rect">
            <a:avLst/>
          </a:prstGeom>
          <a:noFill/>
          <a:ln>
            <a:noFill/>
          </a:ln>
          <a:effectLst>
            <a:outerShdw blurRad="71496" rotWithShape="0" algn="bl" dir="5400000" dist="23832">
              <a:srgbClr val="000000">
                <a:alpha val="50000"/>
              </a:srgbClr>
            </a:outerShdw>
          </a:effectLst>
        </p:spPr>
      </p:pic>
      <p:pic>
        <p:nvPicPr>
          <p:cNvPr id="1138" name="Google Shape;1138;p99" title="T030BEKNKEJ-U0A22LP8E8J-7e8347a7ad33-192.jp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727071" y="5135848"/>
            <a:ext cx="395274" cy="395289"/>
          </a:xfrm>
          <a:prstGeom prst="rect">
            <a:avLst/>
          </a:prstGeom>
          <a:noFill/>
          <a:ln cap="flat" cmpd="sng" w="83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9" name="Google Shape;1139;p9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294138" y="1777816"/>
            <a:ext cx="1383325" cy="77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9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2703077" y="2611024"/>
            <a:ext cx="1192325" cy="119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9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07838" y="3399337"/>
            <a:ext cx="452525" cy="45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99"/>
          <p:cNvPicPr preferRelativeResize="0"/>
          <p:nvPr/>
        </p:nvPicPr>
        <p:blipFill rotWithShape="1">
          <a:blip r:embed="rId20">
            <a:alphaModFix/>
          </a:blip>
          <a:srcRect b="0" l="19673" r="20368" t="0"/>
          <a:stretch/>
        </p:blipFill>
        <p:spPr>
          <a:xfrm>
            <a:off x="6833912" y="2719050"/>
            <a:ext cx="998675" cy="610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9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12875" y="3232600"/>
            <a:ext cx="452525" cy="452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9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607438" y="4561486"/>
            <a:ext cx="1336525" cy="361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9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41150" y="5118366"/>
            <a:ext cx="385900" cy="3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9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192522" y="2868047"/>
            <a:ext cx="817100" cy="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99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708175" y="3408525"/>
            <a:ext cx="452500" cy="4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9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550117" y="1222800"/>
            <a:ext cx="998675" cy="748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8975" y="2266502"/>
            <a:ext cx="452525" cy="427339"/>
          </a:xfrm>
          <a:prstGeom prst="rect">
            <a:avLst/>
          </a:prstGeom>
          <a:noFill/>
          <a:ln>
            <a:noFill/>
          </a:ln>
          <a:effectLst>
            <a:outerShdw blurRad="86558" rotWithShape="0" algn="bl" dir="5400000" dist="28853">
              <a:srgbClr val="000000">
                <a:alpha val="50000"/>
              </a:srgbClr>
            </a:outerShdw>
          </a:effectLst>
        </p:spPr>
      </p:pic>
      <p:pic>
        <p:nvPicPr>
          <p:cNvPr id="1150" name="Google Shape;1150;p9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211239" y="2833201"/>
            <a:ext cx="886775" cy="88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99" title="T030BEKNKEJ-U0A22LP8E8J-7e8347a7ad33-192.jp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809271" y="3329611"/>
            <a:ext cx="395274" cy="395289"/>
          </a:xfrm>
          <a:prstGeom prst="rect">
            <a:avLst/>
          </a:prstGeom>
          <a:noFill/>
          <a:ln cap="flat" cmpd="sng" w="83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2" name="Google Shape;1152;p99"/>
          <p:cNvPicPr preferRelativeResize="0"/>
          <p:nvPr/>
        </p:nvPicPr>
        <p:blipFill rotWithShape="1">
          <a:blip r:embed="rId26">
            <a:alphaModFix/>
          </a:blip>
          <a:srcRect b="0" l="18656" r="19915" t="0"/>
          <a:stretch/>
        </p:blipFill>
        <p:spPr>
          <a:xfrm>
            <a:off x="9248075" y="2788600"/>
            <a:ext cx="953179" cy="97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99" title="T030BEKNKEJ-U0A22LP8E8J-7e8347a7ad33-192.jp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9819833" y="3329611"/>
            <a:ext cx="395274" cy="395289"/>
          </a:xfrm>
          <a:prstGeom prst="rect">
            <a:avLst/>
          </a:prstGeom>
          <a:noFill/>
          <a:ln cap="flat" cmpd="sng" w="83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4" name="Google Shape;1154;p9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10237700" y="2917925"/>
            <a:ext cx="1383325" cy="774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49475" y="3393321"/>
            <a:ext cx="452525" cy="427339"/>
          </a:xfrm>
          <a:prstGeom prst="rect">
            <a:avLst/>
          </a:prstGeom>
          <a:noFill/>
          <a:ln>
            <a:noFill/>
          </a:ln>
          <a:effectLst>
            <a:outerShdw blurRad="86558" rotWithShape="0" algn="bl" dir="5400000" dist="28853">
              <a:srgbClr val="000000">
                <a:alpha val="50000"/>
              </a:srgbClr>
            </a:outerShdw>
          </a:effectLst>
        </p:spPr>
      </p:pic>
      <p:pic>
        <p:nvPicPr>
          <p:cNvPr id="1156" name="Google Shape;1156;p9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067368" y="2810513"/>
            <a:ext cx="953175" cy="93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7" name="Google Shape;1157;p9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4608013" y="3399350"/>
            <a:ext cx="452500" cy="4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99"/>
          <p:cNvPicPr preferRelativeResize="0"/>
          <p:nvPr/>
        </p:nvPicPr>
        <p:blipFill rotWithShape="1">
          <a:blip r:embed="rId30">
            <a:alphaModFix/>
          </a:blip>
          <a:srcRect b="0" l="14265" r="16954" t="0"/>
          <a:stretch/>
        </p:blipFill>
        <p:spPr>
          <a:xfrm>
            <a:off x="4175959" y="4428142"/>
            <a:ext cx="750352" cy="81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9" name="Google Shape;1159;p99" title="T030BEKNKEJ-U0A22LP8E8J-7e8347a7ad33-192.jp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615221" y="5113686"/>
            <a:ext cx="395274" cy="395289"/>
          </a:xfrm>
          <a:prstGeom prst="rect">
            <a:avLst/>
          </a:prstGeom>
          <a:noFill/>
          <a:ln cap="flat" cmpd="sng" w="83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0" name="Google Shape;1160;p99"/>
          <p:cNvSpPr/>
          <p:nvPr/>
        </p:nvSpPr>
        <p:spPr>
          <a:xfrm>
            <a:off x="6557875" y="4033572"/>
            <a:ext cx="5139000" cy="565200"/>
          </a:xfrm>
          <a:prstGeom prst="rect">
            <a:avLst/>
          </a:prstGeom>
          <a:solidFill>
            <a:srgbClr val="3E4FE0"/>
          </a:solidFill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rgbClr val="FFFFFF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SQLs coming from events (MRC &amp; MPE)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1" name="Google Shape;1161;p9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10447703" y="4837165"/>
            <a:ext cx="452525" cy="4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9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9431977" y="5430700"/>
            <a:ext cx="689672" cy="3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99"/>
          <p:cNvPicPr preferRelativeResize="0"/>
          <p:nvPr/>
        </p:nvPicPr>
        <p:blipFill rotWithShape="1">
          <a:blip r:embed="rId33">
            <a:alphaModFix/>
          </a:blip>
          <a:srcRect b="36361" l="0" r="0" t="37266"/>
          <a:stretch/>
        </p:blipFill>
        <p:spPr>
          <a:xfrm>
            <a:off x="8094212" y="5203575"/>
            <a:ext cx="817100" cy="21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9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8094200" y="4794088"/>
            <a:ext cx="817100" cy="265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9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8211250" y="5501913"/>
            <a:ext cx="886775" cy="496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9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7207865" y="5501915"/>
            <a:ext cx="496575" cy="49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99"/>
          <p:cNvSpPr txBox="1"/>
          <p:nvPr>
            <p:ph type="title"/>
          </p:nvPr>
        </p:nvSpPr>
        <p:spPr>
          <a:xfrm>
            <a:off x="10123548" y="5485675"/>
            <a:ext cx="133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 sz="1800"/>
              <a:t>+5 MORE</a:t>
            </a:r>
            <a:endParaRPr sz="1800"/>
          </a:p>
        </p:txBody>
      </p:sp>
      <p:pic>
        <p:nvPicPr>
          <p:cNvPr id="1168" name="Google Shape;1168;p9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2792847" y="2552479"/>
            <a:ext cx="385900" cy="385900"/>
          </a:xfrm>
          <a:prstGeom prst="rect">
            <a:avLst/>
          </a:prstGeom>
          <a:noFill/>
          <a:ln>
            <a:noFill/>
          </a:ln>
          <a:effectLst>
            <a:outerShdw blurRad="71496" rotWithShape="0" algn="bl" dir="5400000" dist="23832">
              <a:srgbClr val="000000">
                <a:alpha val="50000"/>
              </a:srgbClr>
            </a:outerShdw>
          </a:effectLst>
        </p:spPr>
      </p:pic>
      <p:pic>
        <p:nvPicPr>
          <p:cNvPr id="1169" name="Google Shape;116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412" y="1883377"/>
            <a:ext cx="452525" cy="427339"/>
          </a:xfrm>
          <a:prstGeom prst="rect">
            <a:avLst/>
          </a:prstGeom>
          <a:noFill/>
          <a:ln>
            <a:noFill/>
          </a:ln>
          <a:effectLst>
            <a:outerShdw blurRad="86558" rotWithShape="0" algn="bl" dir="5400000" dist="28853">
              <a:srgbClr val="000000">
                <a:alpha val="50000"/>
              </a:srgbClr>
            </a:outerShdw>
          </a:effectLst>
        </p:spPr>
      </p:pic>
      <p:pic>
        <p:nvPicPr>
          <p:cNvPr id="1170" name="Google Shape;1170;p9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8829988" y="1646446"/>
            <a:ext cx="886774" cy="440616"/>
          </a:xfrm>
          <a:prstGeom prst="rect">
            <a:avLst/>
          </a:prstGeom>
          <a:noFill/>
          <a:ln cap="flat" cmpd="sng" w="9525">
            <a:solidFill>
              <a:srgbClr val="C9CDF7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0"/>
          <p:cNvSpPr txBox="1"/>
          <p:nvPr>
            <p:ph type="title"/>
          </p:nvPr>
        </p:nvSpPr>
        <p:spPr>
          <a:xfrm>
            <a:off x="757875" y="4257200"/>
            <a:ext cx="34944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MARKETING</a:t>
            </a:r>
            <a:endParaRPr/>
          </a:p>
        </p:txBody>
      </p:sp>
      <p:sp>
        <p:nvSpPr>
          <p:cNvPr id="1176" name="Google Shape;1176;p100"/>
          <p:cNvSpPr txBox="1"/>
          <p:nvPr>
            <p:ph idx="1" type="subTitle"/>
          </p:nvPr>
        </p:nvSpPr>
        <p:spPr>
          <a:xfrm>
            <a:off x="791325" y="4952125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08:40 - 08:43</a:t>
            </a:r>
            <a:endParaRPr sz="3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01"/>
          <p:cNvSpPr txBox="1"/>
          <p:nvPr>
            <p:ph type="title"/>
          </p:nvPr>
        </p:nvSpPr>
        <p:spPr>
          <a:xfrm>
            <a:off x="757878" y="586626"/>
            <a:ext cx="10918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Marketing </a:t>
            </a:r>
            <a:endParaRPr/>
          </a:p>
        </p:txBody>
      </p:sp>
      <p:sp>
        <p:nvSpPr>
          <p:cNvPr id="1182" name="Google Shape;1182;p101"/>
          <p:cNvSpPr txBox="1"/>
          <p:nvPr>
            <p:ph idx="1" type="body"/>
          </p:nvPr>
        </p:nvSpPr>
        <p:spPr>
          <a:xfrm>
            <a:off x="757887" y="294533"/>
            <a:ext cx="4290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HANDS 19 MAR</a:t>
            </a:r>
            <a:endParaRPr/>
          </a:p>
        </p:txBody>
      </p:sp>
      <p:graphicFrame>
        <p:nvGraphicFramePr>
          <p:cNvPr id="1183" name="Google Shape;1183;p101"/>
          <p:cNvGraphicFramePr/>
          <p:nvPr/>
        </p:nvGraphicFramePr>
        <p:xfrm>
          <a:off x="757875" y="3024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{0BADAD55-CA40-4C92-8C74-7A9426FE9071}</a:tableStyleId>
              </a:tblPr>
              <a:tblGrid>
                <a:gridCol w="5012600"/>
              </a:tblGrid>
              <a:tr h="155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12 SQLs total: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LATAM: Utel University, AuxPay, Delivery Much Brasil, Centauro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APAC: Manjuu Games, Kimi, 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GOGOGO, Directv, Mobility ADO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EMEA: Fitune, Icelandair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US: Automatiq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1" sz="12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4" name="Google Shape;1184;p101"/>
          <p:cNvGraphicFramePr/>
          <p:nvPr/>
        </p:nvGraphicFramePr>
        <p:xfrm>
          <a:off x="807481" y="18800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{FA3CF01A-FF00-4621-9592-C8D5DCCB9317}</a:tableStyleId>
              </a:tblPr>
              <a:tblGrid>
                <a:gridCol w="1109700"/>
                <a:gridCol w="1109700"/>
                <a:gridCol w="1109700"/>
                <a:gridCol w="1109700"/>
              </a:tblGrid>
              <a:tr h="339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MQL DIGITAL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MQL EVENTS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MQL TOTAL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% TO TARGET</a:t>
                      </a:r>
                      <a:endParaRPr b="1" sz="11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6DAF9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30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14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44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40</a:t>
                      </a: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%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SQL DIGITAL</a:t>
                      </a:r>
                      <a:endParaRPr b="1" sz="11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SQL EVENTS</a:t>
                      </a:r>
                      <a:endParaRPr b="1" sz="11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SQL TOTAL</a:t>
                      </a:r>
                      <a:endParaRPr b="1" sz="1100">
                        <a:solidFill>
                          <a:srgbClr val="FFFFFF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lt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% TO TARGET</a:t>
                      </a:r>
                      <a:endParaRPr b="1" sz="1100">
                        <a:solidFill>
                          <a:schemeClr val="lt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2A30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8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4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12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5</a:t>
                      </a:r>
                      <a:r>
                        <a:rPr b="1" lang="en-US" sz="1100"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5%</a:t>
                      </a:r>
                      <a:endParaRPr b="1" sz="1100"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25400" marB="25400" marR="38100" marL="38100" anchor="b">
                    <a:lnL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8EA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5" name="Google Shape;1185;p101"/>
          <p:cNvSpPr txBox="1"/>
          <p:nvPr/>
        </p:nvSpPr>
        <p:spPr>
          <a:xfrm>
            <a:off x="1103763" y="1415375"/>
            <a:ext cx="443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PERFORMANCE MARCH MTD</a:t>
            </a:r>
            <a:endParaRPr sz="1600"/>
          </a:p>
        </p:txBody>
      </p:sp>
      <p:grpSp>
        <p:nvGrpSpPr>
          <p:cNvPr id="1186" name="Google Shape;1186;p101"/>
          <p:cNvGrpSpPr/>
          <p:nvPr/>
        </p:nvGrpSpPr>
        <p:grpSpPr>
          <a:xfrm>
            <a:off x="807471" y="1466172"/>
            <a:ext cx="144704" cy="144704"/>
            <a:chOff x="4444253" y="4002170"/>
            <a:chExt cx="95250" cy="95250"/>
          </a:xfrm>
        </p:grpSpPr>
        <p:sp>
          <p:nvSpPr>
            <p:cNvPr id="1187" name="Google Shape;1187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101"/>
          <p:cNvSpPr txBox="1"/>
          <p:nvPr/>
        </p:nvSpPr>
        <p:spPr>
          <a:xfrm>
            <a:off x="6262526" y="1415375"/>
            <a:ext cx="443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EVENTS </a:t>
            </a:r>
            <a:endParaRPr sz="1600"/>
          </a:p>
        </p:txBody>
      </p:sp>
      <p:grpSp>
        <p:nvGrpSpPr>
          <p:cNvPr id="1190" name="Google Shape;1190;p101"/>
          <p:cNvGrpSpPr/>
          <p:nvPr/>
        </p:nvGrpSpPr>
        <p:grpSpPr>
          <a:xfrm>
            <a:off x="5966234" y="1466172"/>
            <a:ext cx="144704" cy="144704"/>
            <a:chOff x="4444253" y="4002170"/>
            <a:chExt cx="95250" cy="95250"/>
          </a:xfrm>
        </p:grpSpPr>
        <p:sp>
          <p:nvSpPr>
            <p:cNvPr id="1191" name="Google Shape;1191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3" name="Google Shape;1193;p101"/>
          <p:cNvSpPr txBox="1"/>
          <p:nvPr/>
        </p:nvSpPr>
        <p:spPr>
          <a:xfrm>
            <a:off x="2016826" y="4347050"/>
            <a:ext cx="443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SQLs BY REGION</a:t>
            </a:r>
            <a:endParaRPr sz="1600"/>
          </a:p>
        </p:txBody>
      </p:sp>
      <p:grpSp>
        <p:nvGrpSpPr>
          <p:cNvPr id="1194" name="Google Shape;1194;p101"/>
          <p:cNvGrpSpPr/>
          <p:nvPr/>
        </p:nvGrpSpPr>
        <p:grpSpPr>
          <a:xfrm>
            <a:off x="1726899" y="4397847"/>
            <a:ext cx="144704" cy="144704"/>
            <a:chOff x="4444253" y="4002170"/>
            <a:chExt cx="95250" cy="95250"/>
          </a:xfrm>
        </p:grpSpPr>
        <p:sp>
          <p:nvSpPr>
            <p:cNvPr id="1195" name="Google Shape;1195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7" name="Google Shape;1197;p101"/>
          <p:cNvSpPr txBox="1"/>
          <p:nvPr/>
        </p:nvSpPr>
        <p:spPr>
          <a:xfrm>
            <a:off x="9420230" y="1415375"/>
            <a:ext cx="2257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4FE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E4FE0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AEO Tech Agent</a:t>
            </a:r>
            <a:endParaRPr sz="1600"/>
          </a:p>
        </p:txBody>
      </p:sp>
      <p:grpSp>
        <p:nvGrpSpPr>
          <p:cNvPr id="1198" name="Google Shape;1198;p101"/>
          <p:cNvGrpSpPr/>
          <p:nvPr/>
        </p:nvGrpSpPr>
        <p:grpSpPr>
          <a:xfrm>
            <a:off x="9123942" y="1466172"/>
            <a:ext cx="144704" cy="144704"/>
            <a:chOff x="4444253" y="4002170"/>
            <a:chExt cx="95250" cy="95250"/>
          </a:xfrm>
        </p:grpSpPr>
        <p:sp>
          <p:nvSpPr>
            <p:cNvPr id="1199" name="Google Shape;1199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0"/>
                  </a:moveTo>
                  <a:lnTo>
                    <a:pt x="95250" y="0"/>
                  </a:lnTo>
                  <a:lnTo>
                    <a:pt x="95250" y="9525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01"/>
            <p:cNvSpPr/>
            <p:nvPr/>
          </p:nvSpPr>
          <p:spPr>
            <a:xfrm>
              <a:off x="4444253" y="4002170"/>
              <a:ext cx="95250" cy="95250"/>
            </a:xfrm>
            <a:custGeom>
              <a:rect b="b" l="l" r="r" t="t"/>
              <a:pathLst>
                <a:path extrusionOk="0" h="95250" w="95250">
                  <a:moveTo>
                    <a:pt x="0" y="95250"/>
                  </a:moveTo>
                  <a:lnTo>
                    <a:pt x="95250" y="0"/>
                  </a:lnTo>
                </a:path>
              </a:pathLst>
            </a:custGeom>
            <a:noFill/>
            <a:ln cap="rnd" cmpd="sng" w="12700">
              <a:solidFill>
                <a:srgbClr val="B0B7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1" name="Google Shape;1201;p101"/>
          <p:cNvSpPr txBox="1"/>
          <p:nvPr/>
        </p:nvSpPr>
        <p:spPr>
          <a:xfrm>
            <a:off x="12562775" y="51972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02" name="Google Shape;1202;p101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625" y="4699826"/>
            <a:ext cx="3079575" cy="18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101"/>
          <p:cNvPicPr preferRelativeResize="0"/>
          <p:nvPr/>
        </p:nvPicPr>
        <p:blipFill rotWithShape="1">
          <a:blip r:embed="rId4">
            <a:alphaModFix/>
          </a:blip>
          <a:srcRect b="0" l="0" r="0" t="2191"/>
          <a:stretch/>
        </p:blipFill>
        <p:spPr>
          <a:xfrm>
            <a:off x="5643525" y="1836773"/>
            <a:ext cx="2739145" cy="1099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4" name="Google Shape;1204;p101"/>
          <p:cNvGraphicFramePr/>
          <p:nvPr/>
        </p:nvGraphicFramePr>
        <p:xfrm>
          <a:off x="5635375" y="29952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{0BADAD55-CA40-4C92-8C74-7A9426FE9071}</a:tableStyleId>
              </a:tblPr>
              <a:tblGrid>
                <a:gridCol w="2739150"/>
              </a:tblGrid>
              <a:tr h="58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MRC Vegas this week (16-19 March)</a:t>
                      </a:r>
                      <a:endParaRPr sz="12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05" name="Google Shape;1205;p101"/>
          <p:cNvPicPr preferRelativeResize="0"/>
          <p:nvPr/>
        </p:nvPicPr>
        <p:blipFill rotWithShape="1">
          <a:blip r:embed="rId5">
            <a:alphaModFix/>
          </a:blip>
          <a:srcRect b="0" l="14065" r="14251" t="0"/>
          <a:stretch/>
        </p:blipFill>
        <p:spPr>
          <a:xfrm>
            <a:off x="8888350" y="1880025"/>
            <a:ext cx="3145498" cy="228835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06" name="Google Shape;1206;p101"/>
          <p:cNvSpPr txBox="1"/>
          <p:nvPr/>
        </p:nvSpPr>
        <p:spPr>
          <a:xfrm>
            <a:off x="8828938" y="4322475"/>
            <a:ext cx="32643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>
                <a:solidFill>
                  <a:srgbClr val="000000"/>
                </a:solidFill>
              </a:rPr>
              <a:t>Weekly technical SEO/AEO audits – scraping Semrush and Pierview.ai, analysing every issue with Claude, and pushing approved fixes directly to Webflow. No manual CMS work.</a:t>
            </a:r>
            <a:endParaRPr sz="1100">
              <a:solidFill>
                <a:srgbClr val="1D1C1D"/>
              </a:solidFill>
            </a:endParaRPr>
          </a:p>
        </p:txBody>
      </p:sp>
      <p:pic>
        <p:nvPicPr>
          <p:cNvPr id="1207" name="Google Shape;1207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52911" y="1233325"/>
            <a:ext cx="458267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73237" y="3495775"/>
            <a:ext cx="2663425" cy="1491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9" name="Google Shape;1209;p101"/>
          <p:cNvGraphicFramePr/>
          <p:nvPr/>
        </p:nvGraphicFramePr>
        <p:xfrm>
          <a:off x="5660459" y="4902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{0BADAD55-CA40-4C92-8C74-7A9426FE9071}</a:tableStyleId>
              </a:tblPr>
              <a:tblGrid>
                <a:gridCol w="2846300"/>
              </a:tblGrid>
              <a:tr h="58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MRC London next month (13-15 April)</a:t>
                      </a:r>
                      <a:endParaRPr sz="12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Titillium Web Light"/>
                        <a:ea typeface="Titillium Web Light"/>
                        <a:cs typeface="Titillium Web Light"/>
                        <a:sym typeface="Titillium Web Light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0" name="Google Shape;1210;p101"/>
          <p:cNvGraphicFramePr/>
          <p:nvPr/>
        </p:nvGraphicFramePr>
        <p:xfrm>
          <a:off x="5690116" y="5350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{0BADAD55-CA40-4C92-8C74-7A9426FE9071}</a:tableStyleId>
              </a:tblPr>
              <a:tblGrid>
                <a:gridCol w="3000000"/>
              </a:tblGrid>
              <a:tr h="586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>
                          <a:solidFill>
                            <a:schemeClr val="dk1"/>
                          </a:solidFill>
                        </a:rPr>
                        <a:t>Side event: Networking drinks Riskified x Yuno x AWS</a:t>
                      </a:r>
                      <a:r>
                        <a:rPr b="1" lang="en-US" sz="1200">
                          <a:solidFill>
                            <a:schemeClr val="dk1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</a:rPr>
                        <a:t> (13 Apr)</a:t>
                      </a:r>
                      <a:endParaRPr b="1" sz="12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Titillium Web"/>
                          <a:ea typeface="Titillium Web"/>
                          <a:cs typeface="Titillium Web"/>
                          <a:sym typeface="Titillium Web"/>
                          <a:hlinkClick r:id="rId8"/>
                        </a:rPr>
                        <a:t>Landing page</a:t>
                      </a:r>
                      <a:endParaRPr sz="1200">
                        <a:solidFill>
                          <a:schemeClr val="dk1"/>
                        </a:solidFill>
                        <a:latin typeface="Titillium Web"/>
                        <a:ea typeface="Titillium Web"/>
                        <a:cs typeface="Titillium Web"/>
                        <a:sym typeface="Titillium Web"/>
                      </a:endParaRPr>
                    </a:p>
                  </a:txBody>
                  <a:tcPr marT="121900" marB="121900" marR="121900" marL="121900">
                    <a:lnL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2"/>
          <p:cNvSpPr txBox="1"/>
          <p:nvPr>
            <p:ph type="title"/>
          </p:nvPr>
        </p:nvSpPr>
        <p:spPr>
          <a:xfrm>
            <a:off x="757875" y="3326190"/>
            <a:ext cx="109182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AF6"/>
              </a:buClr>
              <a:buSzPts val="4400"/>
              <a:buFont typeface="Titillium Web SemiBold"/>
              <a:buNone/>
            </a:pPr>
            <a:r>
              <a:rPr lang="en-US"/>
              <a:t>AI DEMO KAM EXPERIMENTS</a:t>
            </a:r>
            <a:br>
              <a:rPr lang="en-US"/>
            </a:br>
            <a:r>
              <a:rPr lang="en-US"/>
              <a:t>BY ALEJANDRA GARC</a:t>
            </a:r>
            <a:r>
              <a:rPr lang="en-US"/>
              <a:t>ÍA AND DAVID </a:t>
            </a:r>
            <a:r>
              <a:rPr lang="en-US"/>
              <a:t>FRANCESCONI</a:t>
            </a:r>
            <a:endParaRPr/>
          </a:p>
        </p:txBody>
      </p:sp>
      <p:sp>
        <p:nvSpPr>
          <p:cNvPr id="1216" name="Google Shape;1216;p102"/>
          <p:cNvSpPr txBox="1"/>
          <p:nvPr>
            <p:ph idx="1" type="subTitle"/>
          </p:nvPr>
        </p:nvSpPr>
        <p:spPr>
          <a:xfrm>
            <a:off x="791325" y="5673330"/>
            <a:ext cx="29229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8EAF6"/>
              </a:buClr>
              <a:buSzPts val="1600"/>
              <a:buNone/>
            </a:pPr>
            <a:r>
              <a:rPr lang="en-US" sz="3500"/>
              <a:t>08:44 - 09:00</a:t>
            </a:r>
            <a:endParaRPr sz="3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03"/>
          <p:cNvSpPr txBox="1"/>
          <p:nvPr>
            <p:ph type="title"/>
          </p:nvPr>
        </p:nvSpPr>
        <p:spPr>
          <a:xfrm>
            <a:off x="1118799" y="3270191"/>
            <a:ext cx="8055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tillium Web SemiBold"/>
              <a:buNone/>
            </a:pPr>
            <a:r>
              <a:rPr lang="en-US"/>
              <a:t>Let’s grow together</a:t>
            </a:r>
            <a:br>
              <a:rPr lang="en-US"/>
            </a:br>
            <a:br>
              <a:rPr lang="en-US"/>
            </a:br>
            <a:r>
              <a:rPr lang="en-US"/>
              <a:t>Thanks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Yuno Master template">
  <a:themeElements>
    <a:clrScheme name="Yuno_style">
      <a:dk1>
        <a:srgbClr val="000000"/>
      </a:dk1>
      <a:lt1>
        <a:srgbClr val="FFFFFF"/>
      </a:lt1>
      <a:dk2>
        <a:srgbClr val="282A30"/>
      </a:dk2>
      <a:lt2>
        <a:srgbClr val="FFFFFF"/>
      </a:lt2>
      <a:accent1>
        <a:srgbClr val="3E4FE0"/>
      </a:accent1>
      <a:accent2>
        <a:srgbClr val="282A30"/>
      </a:accent2>
      <a:accent3>
        <a:srgbClr val="E8EAF5"/>
      </a:accent3>
      <a:accent4>
        <a:srgbClr val="1D2DB8"/>
      </a:accent4>
      <a:accent5>
        <a:srgbClr val="92959B"/>
      </a:accent5>
      <a:accent6>
        <a:srgbClr val="C6CBE6"/>
      </a:accent6>
      <a:hlink>
        <a:srgbClr val="46B3C2"/>
      </a:hlink>
      <a:folHlink>
        <a:srgbClr val="5F64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Yuno Master template">
  <a:themeElements>
    <a:clrScheme name="Yuno_style">
      <a:dk1>
        <a:srgbClr val="000000"/>
      </a:dk1>
      <a:lt1>
        <a:srgbClr val="FFFFFF"/>
      </a:lt1>
      <a:dk2>
        <a:srgbClr val="282A30"/>
      </a:dk2>
      <a:lt2>
        <a:srgbClr val="FFFFFF"/>
      </a:lt2>
      <a:accent1>
        <a:srgbClr val="3E4FE0"/>
      </a:accent1>
      <a:accent2>
        <a:srgbClr val="282A30"/>
      </a:accent2>
      <a:accent3>
        <a:srgbClr val="E8EAF5"/>
      </a:accent3>
      <a:accent4>
        <a:srgbClr val="1D2DB8"/>
      </a:accent4>
      <a:accent5>
        <a:srgbClr val="92959B"/>
      </a:accent5>
      <a:accent6>
        <a:srgbClr val="C6CBE6"/>
      </a:accent6>
      <a:hlink>
        <a:srgbClr val="46B3C2"/>
      </a:hlink>
      <a:folHlink>
        <a:srgbClr val="5F64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